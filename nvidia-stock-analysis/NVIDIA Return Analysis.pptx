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6" r:id="rId13"/>
    <p:sldId id="267" r:id="rId14"/>
    <p:sldId id="265" r:id="rId15"/>
    <p:sldId id="268" r:id="rId16"/>
    <p:sldId id="269" r:id="rId17"/>
    <p:sldId id="270" r:id="rId18"/>
    <p:sldId id="271" r:id="rId19"/>
    <p:sldId id="277" r:id="rId20"/>
    <p:sldId id="273" r:id="rId21"/>
    <p:sldId id="274" r:id="rId22"/>
    <p:sldId id="276" r:id="rId23"/>
    <p:sldId id="275" r:id="rId24"/>
  </p:sldIdLst>
  <p:sldSz cx="9144000" cy="5143500" type="screen16x9"/>
  <p:notesSz cx="6858000" cy="9144000"/>
  <p:embeddedFontLst>
    <p:embeddedFont>
      <p:font typeface="Albert Sans" pitchFamily="2" charset="77"/>
      <p:regular r:id="rId26"/>
      <p:bold r:id="rId27"/>
      <p:italic r:id="rId28"/>
      <p:boldItalic r:id="rId29"/>
    </p:embeddedFont>
    <p:embeddedFont>
      <p:font typeface="Albert Sans SemiBold" pitchFamily="2" charset="77"/>
      <p:regular r:id="rId30"/>
      <p:bold r:id="rId31"/>
      <p:italic r:id="rId32"/>
      <p:boldItalic r:id="rId33"/>
    </p:embeddedFont>
    <p:embeddedFont>
      <p:font typeface="Assistant" pitchFamily="2" charset="-79"/>
      <p:regular r:id="rId34"/>
      <p:bold r:id="rId35"/>
    </p:embeddedFont>
    <p:embeddedFont>
      <p:font typeface="Bebas Neue" panose="020B0606020202050201" pitchFamily="34" charset="77"/>
      <p:regular r:id="rId36"/>
    </p:embeddedFont>
    <p:embeddedFont>
      <p:font typeface="Nunito Light" pitchFamily="2" charset="77"/>
      <p:regular r:id="rId37"/>
      <p:italic r:id="rId38"/>
    </p:embeddedFont>
    <p:embeddedFont>
      <p:font typeface="Playfair Display" pitchFamily="2" charset="77"/>
      <p:regular r:id="rId39"/>
      <p:bold r:id="rId40"/>
      <p:italic r:id="rId41"/>
      <p:boldItalic r:id="rId42"/>
    </p:embeddedFont>
    <p:embeddedFont>
      <p:font typeface="PT Sans" panose="020B0503020203020204" pitchFamily="34" charset="77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4444"/>
    <a:srgbClr val="A6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11C62-F170-B5DA-95DC-CD7158C196B2}" v="2" dt="2025-11-04T21:14:43.522"/>
    <p1510:client id="{6FD81D66-3BC8-4893-96C2-D36DAB3434EF}" v="2461" dt="2025-11-04T22:11:46.588"/>
    <p1510:client id="{F0D23886-30B6-A946-A6CF-BC71829048F7}" v="253" dt="2025-11-04T23:07:41.094"/>
  </p1510:revLst>
</p1510:revInfo>
</file>

<file path=ppt/tableStyles.xml><?xml version="1.0" encoding="utf-8"?>
<a:tblStyleLst xmlns:a="http://schemas.openxmlformats.org/drawingml/2006/main" def="{D14C4EDC-AA3C-478A-B82C-993B539C328E}">
  <a:tblStyle styleId="{D14C4EDC-AA3C-478A-B82C-993B539C32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/>
    <p:restoredTop sz="94599"/>
  </p:normalViewPr>
  <p:slideViewPr>
    <p:cSldViewPr snapToGrid="0">
      <p:cViewPr varScale="1">
        <p:scale>
          <a:sx n="135" d="100"/>
          <a:sy n="135" d="100"/>
        </p:scale>
        <p:origin x="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4.fntdata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6.xml"/><Relationship Id="rId41" Type="http://schemas.openxmlformats.org/officeDocument/2006/relationships/font" Target="fonts/font1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da1190137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da1190137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da696d1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9da696d1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d139c8d7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9d139c8d70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d139c8d70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9d139c8d70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da119013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9da119013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dacf50a62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dacf50a62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dacf50a62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9dacf50a62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da119013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9da119013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9da119013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9da119013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9da1190137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9da1190137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9da119013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9da119013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>
          <a:extLst>
            <a:ext uri="{FF2B5EF4-FFF2-40B4-BE49-F238E27FC236}">
              <a16:creationId xmlns:a16="http://schemas.microsoft.com/office/drawing/2014/main" id="{AF0C87DE-C69C-E6C5-8267-0D8C06DF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84d99d1a72_0_2:notes">
            <a:extLst>
              <a:ext uri="{FF2B5EF4-FFF2-40B4-BE49-F238E27FC236}">
                <a16:creationId xmlns:a16="http://schemas.microsoft.com/office/drawing/2014/main" id="{A5A90FF9-8E96-DB72-1680-751EAEFC1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84d99d1a72_0_2:notes">
            <a:extLst>
              <a:ext uri="{FF2B5EF4-FFF2-40B4-BE49-F238E27FC236}">
                <a16:creationId xmlns:a16="http://schemas.microsoft.com/office/drawing/2014/main" id="{03BAF32B-52D3-44BA-B29D-F3A03836B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5117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9d139c8d7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9d139c8d7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2be9b18cfb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2be9b18cfb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>
          <a:extLst>
            <a:ext uri="{FF2B5EF4-FFF2-40B4-BE49-F238E27FC236}">
              <a16:creationId xmlns:a16="http://schemas.microsoft.com/office/drawing/2014/main" id="{BD63E1EC-163E-D026-944F-F8AEC4516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2be9b18cfb_0_435:notes">
            <a:extLst>
              <a:ext uri="{FF2B5EF4-FFF2-40B4-BE49-F238E27FC236}">
                <a16:creationId xmlns:a16="http://schemas.microsoft.com/office/drawing/2014/main" id="{234730C9-EC26-B534-8ADE-470592B0D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2be9b18cfb_0_435:notes">
            <a:extLst>
              <a:ext uri="{FF2B5EF4-FFF2-40B4-BE49-F238E27FC236}">
                <a16:creationId xmlns:a16="http://schemas.microsoft.com/office/drawing/2014/main" id="{48AE5BC4-BFC4-9C40-B49D-EDF4B44C45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262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59675" y="1342975"/>
            <a:ext cx="6824700" cy="17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723675" y="3324725"/>
            <a:ext cx="5696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59704" y="4415278"/>
            <a:ext cx="7161701" cy="766865"/>
          </a:xfrm>
          <a:custGeom>
            <a:avLst/>
            <a:gdLst/>
            <a:ahLst/>
            <a:cxnLst/>
            <a:rect l="l" t="t" r="r" b="b"/>
            <a:pathLst>
              <a:path w="151739" h="16248" extrusionOk="0">
                <a:moveTo>
                  <a:pt x="66082" y="0"/>
                </a:moveTo>
                <a:cubicBezTo>
                  <a:pt x="63985" y="0"/>
                  <a:pt x="61893" y="194"/>
                  <a:pt x="59823" y="624"/>
                </a:cubicBezTo>
                <a:cubicBezTo>
                  <a:pt x="54637" y="1696"/>
                  <a:pt x="49820" y="4218"/>
                  <a:pt x="44601" y="5139"/>
                </a:cubicBezTo>
                <a:cubicBezTo>
                  <a:pt x="42533" y="5503"/>
                  <a:pt x="40444" y="5608"/>
                  <a:pt x="38346" y="5608"/>
                </a:cubicBezTo>
                <a:cubicBezTo>
                  <a:pt x="35446" y="5608"/>
                  <a:pt x="32529" y="5407"/>
                  <a:pt x="29622" y="5407"/>
                </a:cubicBezTo>
                <a:cubicBezTo>
                  <a:pt x="28906" y="5407"/>
                  <a:pt x="28192" y="5419"/>
                  <a:pt x="27478" y="5449"/>
                </a:cubicBezTo>
                <a:cubicBezTo>
                  <a:pt x="17149" y="5885"/>
                  <a:pt x="7322" y="8842"/>
                  <a:pt x="0" y="16130"/>
                </a:cubicBezTo>
                <a:lnTo>
                  <a:pt x="151739" y="16248"/>
                </a:lnTo>
                <a:cubicBezTo>
                  <a:pt x="142318" y="10900"/>
                  <a:pt x="132333" y="5397"/>
                  <a:pt x="121516" y="5397"/>
                </a:cubicBezTo>
                <a:cubicBezTo>
                  <a:pt x="121387" y="5397"/>
                  <a:pt x="121258" y="5397"/>
                  <a:pt x="121128" y="5399"/>
                </a:cubicBezTo>
                <a:cubicBezTo>
                  <a:pt x="113996" y="5485"/>
                  <a:pt x="106950" y="8016"/>
                  <a:pt x="99890" y="8016"/>
                </a:cubicBezTo>
                <a:cubicBezTo>
                  <a:pt x="98665" y="8016"/>
                  <a:pt x="97440" y="7940"/>
                  <a:pt x="96214" y="7761"/>
                </a:cubicBezTo>
                <a:cubicBezTo>
                  <a:pt x="91958" y="7142"/>
                  <a:pt x="87987" y="5324"/>
                  <a:pt x="83966" y="3791"/>
                </a:cubicBezTo>
                <a:cubicBezTo>
                  <a:pt x="78251" y="1618"/>
                  <a:pt x="72148" y="0"/>
                  <a:pt x="660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92470" y="3957000"/>
            <a:ext cx="1972800" cy="1972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983250" y="-1006250"/>
            <a:ext cx="1899000" cy="1899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548793" y="9"/>
            <a:ext cx="1647752" cy="1778660"/>
          </a:xfrm>
          <a:custGeom>
            <a:avLst/>
            <a:gdLst/>
            <a:ahLst/>
            <a:cxnLst/>
            <a:rect l="l" t="t" r="r" b="b"/>
            <a:pathLst>
              <a:path w="53923" h="58207" extrusionOk="0">
                <a:moveTo>
                  <a:pt x="378" y="1"/>
                </a:moveTo>
                <a:cubicBezTo>
                  <a:pt x="1" y="2430"/>
                  <a:pt x="1098" y="5245"/>
                  <a:pt x="2992" y="6987"/>
                </a:cubicBezTo>
                <a:cubicBezTo>
                  <a:pt x="5823" y="9593"/>
                  <a:pt x="9744" y="10531"/>
                  <a:pt x="13312" y="11947"/>
                </a:cubicBezTo>
                <a:cubicBezTo>
                  <a:pt x="19621" y="14451"/>
                  <a:pt x="25476" y="19093"/>
                  <a:pt x="27571" y="25551"/>
                </a:cubicBezTo>
                <a:cubicBezTo>
                  <a:pt x="29070" y="30176"/>
                  <a:pt x="28551" y="35386"/>
                  <a:pt x="30729" y="39734"/>
                </a:cubicBezTo>
                <a:cubicBezTo>
                  <a:pt x="33234" y="44744"/>
                  <a:pt x="38712" y="47466"/>
                  <a:pt x="43998" y="49335"/>
                </a:cubicBezTo>
                <a:cubicBezTo>
                  <a:pt x="46244" y="50139"/>
                  <a:pt x="48564" y="50868"/>
                  <a:pt x="50508" y="52250"/>
                </a:cubicBezTo>
                <a:cubicBezTo>
                  <a:pt x="52333" y="53540"/>
                  <a:pt x="53811" y="55555"/>
                  <a:pt x="53915" y="57773"/>
                </a:cubicBezTo>
                <a:lnTo>
                  <a:pt x="53915" y="57773"/>
                </a:lnTo>
                <a:lnTo>
                  <a:pt x="53574" y="1"/>
                </a:lnTo>
                <a:close/>
                <a:moveTo>
                  <a:pt x="53915" y="57773"/>
                </a:moveTo>
                <a:lnTo>
                  <a:pt x="53917" y="58206"/>
                </a:lnTo>
                <a:cubicBezTo>
                  <a:pt x="53922" y="58061"/>
                  <a:pt x="53921" y="57917"/>
                  <a:pt x="53915" y="5777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2829" y="0"/>
            <a:ext cx="3977458" cy="705827"/>
          </a:xfrm>
          <a:custGeom>
            <a:avLst/>
            <a:gdLst/>
            <a:ahLst/>
            <a:cxnLst/>
            <a:rect l="l" t="t" r="r" b="b"/>
            <a:pathLst>
              <a:path w="123399" h="21898" extrusionOk="0">
                <a:moveTo>
                  <a:pt x="1" y="0"/>
                </a:moveTo>
                <a:cubicBezTo>
                  <a:pt x="7417" y="9259"/>
                  <a:pt x="20028" y="12630"/>
                  <a:pt x="32089" y="12630"/>
                </a:cubicBezTo>
                <a:cubicBezTo>
                  <a:pt x="33572" y="12630"/>
                  <a:pt x="35046" y="12580"/>
                  <a:pt x="36501" y="12482"/>
                </a:cubicBezTo>
                <a:cubicBezTo>
                  <a:pt x="38486" y="12347"/>
                  <a:pt x="40505" y="12152"/>
                  <a:pt x="42499" y="12152"/>
                </a:cubicBezTo>
                <a:cubicBezTo>
                  <a:pt x="44460" y="12152"/>
                  <a:pt x="46397" y="12341"/>
                  <a:pt x="48254" y="12960"/>
                </a:cubicBezTo>
                <a:cubicBezTo>
                  <a:pt x="51195" y="13932"/>
                  <a:pt x="53683" y="15917"/>
                  <a:pt x="56355" y="17492"/>
                </a:cubicBezTo>
                <a:cubicBezTo>
                  <a:pt x="61346" y="20443"/>
                  <a:pt x="67131" y="21898"/>
                  <a:pt x="72922" y="21898"/>
                </a:cubicBezTo>
                <a:cubicBezTo>
                  <a:pt x="79922" y="21898"/>
                  <a:pt x="86932" y="19772"/>
                  <a:pt x="92562" y="15590"/>
                </a:cubicBezTo>
                <a:cubicBezTo>
                  <a:pt x="96566" y="12616"/>
                  <a:pt x="100034" y="8654"/>
                  <a:pt x="104784" y="7121"/>
                </a:cubicBezTo>
                <a:cubicBezTo>
                  <a:pt x="108093" y="6057"/>
                  <a:pt x="111662" y="6308"/>
                  <a:pt x="115105" y="5814"/>
                </a:cubicBezTo>
                <a:cubicBezTo>
                  <a:pt x="118548" y="5320"/>
                  <a:pt x="122092" y="3225"/>
                  <a:pt x="1233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96380" y="230455"/>
            <a:ext cx="838800" cy="83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0" y="3613925"/>
            <a:ext cx="1114225" cy="1529576"/>
          </a:xfrm>
          <a:custGeom>
            <a:avLst/>
            <a:gdLst/>
            <a:ahLst/>
            <a:cxnLst/>
            <a:rect l="l" t="t" r="r" b="b"/>
            <a:pathLst>
              <a:path w="35102" h="48187" extrusionOk="0">
                <a:moveTo>
                  <a:pt x="0" y="0"/>
                </a:moveTo>
                <a:lnTo>
                  <a:pt x="0" y="48187"/>
                </a:lnTo>
                <a:lnTo>
                  <a:pt x="35101" y="48187"/>
                </a:lnTo>
                <a:cubicBezTo>
                  <a:pt x="33769" y="42875"/>
                  <a:pt x="32437" y="38377"/>
                  <a:pt x="31105" y="33066"/>
                </a:cubicBezTo>
                <a:cubicBezTo>
                  <a:pt x="30167" y="29338"/>
                  <a:pt x="29229" y="25593"/>
                  <a:pt x="27788" y="22024"/>
                </a:cubicBezTo>
                <a:cubicBezTo>
                  <a:pt x="26825" y="19645"/>
                  <a:pt x="25652" y="17341"/>
                  <a:pt x="24270" y="15172"/>
                </a:cubicBezTo>
                <a:cubicBezTo>
                  <a:pt x="18866" y="6686"/>
                  <a:pt x="10062" y="34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 rot="-5400000">
            <a:off x="8013900" y="2961351"/>
            <a:ext cx="1130100" cy="113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262175" y="3800525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4575600"/>
            <a:ext cx="5303657" cy="567908"/>
          </a:xfrm>
          <a:custGeom>
            <a:avLst/>
            <a:gdLst/>
            <a:ahLst/>
            <a:cxnLst/>
            <a:rect l="l" t="t" r="r" b="b"/>
            <a:pathLst>
              <a:path w="151739" h="16248" extrusionOk="0">
                <a:moveTo>
                  <a:pt x="66082" y="0"/>
                </a:moveTo>
                <a:cubicBezTo>
                  <a:pt x="63985" y="0"/>
                  <a:pt x="61893" y="194"/>
                  <a:pt x="59823" y="624"/>
                </a:cubicBezTo>
                <a:cubicBezTo>
                  <a:pt x="54637" y="1696"/>
                  <a:pt x="49820" y="4218"/>
                  <a:pt x="44601" y="5139"/>
                </a:cubicBezTo>
                <a:cubicBezTo>
                  <a:pt x="42533" y="5503"/>
                  <a:pt x="40444" y="5608"/>
                  <a:pt x="38346" y="5608"/>
                </a:cubicBezTo>
                <a:cubicBezTo>
                  <a:pt x="35446" y="5608"/>
                  <a:pt x="32529" y="5407"/>
                  <a:pt x="29622" y="5407"/>
                </a:cubicBezTo>
                <a:cubicBezTo>
                  <a:pt x="28906" y="5407"/>
                  <a:pt x="28192" y="5419"/>
                  <a:pt x="27478" y="5449"/>
                </a:cubicBezTo>
                <a:cubicBezTo>
                  <a:pt x="17149" y="5885"/>
                  <a:pt x="7322" y="8842"/>
                  <a:pt x="0" y="16130"/>
                </a:cubicBezTo>
                <a:lnTo>
                  <a:pt x="151739" y="16248"/>
                </a:lnTo>
                <a:cubicBezTo>
                  <a:pt x="142318" y="10900"/>
                  <a:pt x="132333" y="5397"/>
                  <a:pt x="121516" y="5397"/>
                </a:cubicBezTo>
                <a:cubicBezTo>
                  <a:pt x="121387" y="5397"/>
                  <a:pt x="121258" y="5397"/>
                  <a:pt x="121128" y="5399"/>
                </a:cubicBezTo>
                <a:cubicBezTo>
                  <a:pt x="113996" y="5485"/>
                  <a:pt x="106950" y="8016"/>
                  <a:pt x="99890" y="8016"/>
                </a:cubicBezTo>
                <a:cubicBezTo>
                  <a:pt x="98665" y="8016"/>
                  <a:pt x="97440" y="7940"/>
                  <a:pt x="96214" y="7761"/>
                </a:cubicBezTo>
                <a:cubicBezTo>
                  <a:pt x="91958" y="7142"/>
                  <a:pt x="87987" y="5324"/>
                  <a:pt x="83966" y="3791"/>
                </a:cubicBezTo>
                <a:cubicBezTo>
                  <a:pt x="78251" y="1618"/>
                  <a:pt x="72148" y="0"/>
                  <a:pt x="660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30300" y="4492799"/>
            <a:ext cx="650700" cy="650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87875" y="2141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185288" y="21415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77763" y="21415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713225" y="2571750"/>
            <a:ext cx="4071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729950"/>
            <a:ext cx="9822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>
            <a:spLocks noGrp="1"/>
          </p:cNvSpPr>
          <p:nvPr>
            <p:ph type="pic" idx="3"/>
          </p:nvPr>
        </p:nvSpPr>
        <p:spPr>
          <a:xfrm>
            <a:off x="5174700" y="539550"/>
            <a:ext cx="2901000" cy="40644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4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/>
          <p:nvPr/>
        </p:nvSpPr>
        <p:spPr>
          <a:xfrm rot="-5400000">
            <a:off x="8493300" y="-1"/>
            <a:ext cx="650700" cy="650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2525" y="4424350"/>
            <a:ext cx="650700" cy="65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0" y="0"/>
            <a:ext cx="1106250" cy="998250"/>
          </a:xfrm>
          <a:custGeom>
            <a:avLst/>
            <a:gdLst/>
            <a:ahLst/>
            <a:cxnLst/>
            <a:rect l="l" t="t" r="r" b="b"/>
            <a:pathLst>
              <a:path w="44250" h="39930" extrusionOk="0">
                <a:moveTo>
                  <a:pt x="42942" y="1"/>
                </a:moveTo>
                <a:lnTo>
                  <a:pt x="0" y="110"/>
                </a:lnTo>
                <a:lnTo>
                  <a:pt x="0" y="37564"/>
                </a:lnTo>
                <a:cubicBezTo>
                  <a:pt x="1791" y="39195"/>
                  <a:pt x="3693" y="39930"/>
                  <a:pt x="5569" y="39930"/>
                </a:cubicBezTo>
                <a:cubicBezTo>
                  <a:pt x="8607" y="39930"/>
                  <a:pt x="11573" y="38001"/>
                  <a:pt x="13873" y="34825"/>
                </a:cubicBezTo>
                <a:cubicBezTo>
                  <a:pt x="16445" y="31290"/>
                  <a:pt x="16747" y="26666"/>
                  <a:pt x="17501" y="22360"/>
                </a:cubicBezTo>
                <a:cubicBezTo>
                  <a:pt x="18263" y="18062"/>
                  <a:pt x="19972" y="13371"/>
                  <a:pt x="23926" y="11528"/>
                </a:cubicBezTo>
                <a:cubicBezTo>
                  <a:pt x="25627" y="10734"/>
                  <a:pt x="27479" y="10587"/>
                  <a:pt x="29370" y="10587"/>
                </a:cubicBezTo>
                <a:cubicBezTo>
                  <a:pt x="30477" y="10587"/>
                  <a:pt x="31598" y="10637"/>
                  <a:pt x="32709" y="10637"/>
                </a:cubicBezTo>
                <a:cubicBezTo>
                  <a:pt x="33363" y="10637"/>
                  <a:pt x="34014" y="10620"/>
                  <a:pt x="34657" y="10564"/>
                </a:cubicBezTo>
                <a:cubicBezTo>
                  <a:pt x="37313" y="10338"/>
                  <a:pt x="40002" y="9366"/>
                  <a:pt x="41795" y="7389"/>
                </a:cubicBezTo>
                <a:cubicBezTo>
                  <a:pt x="43579" y="5421"/>
                  <a:pt x="44249" y="2321"/>
                  <a:pt x="429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 flipH="1">
            <a:off x="8266450" y="3938825"/>
            <a:ext cx="877550" cy="1204675"/>
          </a:xfrm>
          <a:custGeom>
            <a:avLst/>
            <a:gdLst/>
            <a:ahLst/>
            <a:cxnLst/>
            <a:rect l="l" t="t" r="r" b="b"/>
            <a:pathLst>
              <a:path w="35102" h="48187" extrusionOk="0">
                <a:moveTo>
                  <a:pt x="0" y="0"/>
                </a:moveTo>
                <a:lnTo>
                  <a:pt x="0" y="48187"/>
                </a:lnTo>
                <a:lnTo>
                  <a:pt x="35101" y="48187"/>
                </a:lnTo>
                <a:cubicBezTo>
                  <a:pt x="33769" y="42875"/>
                  <a:pt x="32437" y="38377"/>
                  <a:pt x="31105" y="33066"/>
                </a:cubicBezTo>
                <a:cubicBezTo>
                  <a:pt x="30167" y="29338"/>
                  <a:pt x="29229" y="25593"/>
                  <a:pt x="27788" y="22024"/>
                </a:cubicBezTo>
                <a:cubicBezTo>
                  <a:pt x="26825" y="19645"/>
                  <a:pt x="25652" y="17341"/>
                  <a:pt x="24270" y="15172"/>
                </a:cubicBezTo>
                <a:cubicBezTo>
                  <a:pt x="18866" y="6686"/>
                  <a:pt x="10062" y="34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683925" y="367013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24400" y="4215813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 rot="10800000">
            <a:off x="0" y="3688325"/>
            <a:ext cx="1348075" cy="1455175"/>
          </a:xfrm>
          <a:custGeom>
            <a:avLst/>
            <a:gdLst/>
            <a:ahLst/>
            <a:cxnLst/>
            <a:rect l="l" t="t" r="r" b="b"/>
            <a:pathLst>
              <a:path w="53923" h="58207" extrusionOk="0">
                <a:moveTo>
                  <a:pt x="378" y="1"/>
                </a:moveTo>
                <a:cubicBezTo>
                  <a:pt x="1" y="2430"/>
                  <a:pt x="1098" y="5245"/>
                  <a:pt x="2992" y="6987"/>
                </a:cubicBezTo>
                <a:cubicBezTo>
                  <a:pt x="5823" y="9593"/>
                  <a:pt x="9744" y="10531"/>
                  <a:pt x="13312" y="11947"/>
                </a:cubicBezTo>
                <a:cubicBezTo>
                  <a:pt x="19621" y="14451"/>
                  <a:pt x="25476" y="19093"/>
                  <a:pt x="27571" y="25551"/>
                </a:cubicBezTo>
                <a:cubicBezTo>
                  <a:pt x="29070" y="30176"/>
                  <a:pt x="28551" y="35386"/>
                  <a:pt x="30729" y="39734"/>
                </a:cubicBezTo>
                <a:cubicBezTo>
                  <a:pt x="33234" y="44744"/>
                  <a:pt x="38712" y="47466"/>
                  <a:pt x="43998" y="49335"/>
                </a:cubicBezTo>
                <a:cubicBezTo>
                  <a:pt x="46244" y="50139"/>
                  <a:pt x="48564" y="50868"/>
                  <a:pt x="50508" y="52250"/>
                </a:cubicBezTo>
                <a:cubicBezTo>
                  <a:pt x="52333" y="53540"/>
                  <a:pt x="53811" y="55555"/>
                  <a:pt x="53915" y="57773"/>
                </a:cubicBezTo>
                <a:lnTo>
                  <a:pt x="53915" y="57773"/>
                </a:lnTo>
                <a:lnTo>
                  <a:pt x="53574" y="1"/>
                </a:lnTo>
                <a:close/>
                <a:moveTo>
                  <a:pt x="53915" y="57773"/>
                </a:moveTo>
                <a:lnTo>
                  <a:pt x="53917" y="58206"/>
                </a:lnTo>
                <a:cubicBezTo>
                  <a:pt x="53922" y="58061"/>
                  <a:pt x="53921" y="57917"/>
                  <a:pt x="53915" y="5777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8437875" y="21415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8030350" y="21415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 rot="-5400000" flipH="1">
            <a:off x="1586072" y="-1586072"/>
            <a:ext cx="612263" cy="3784408"/>
          </a:xfrm>
          <a:custGeom>
            <a:avLst/>
            <a:gdLst/>
            <a:ahLst/>
            <a:cxnLst/>
            <a:rect l="l" t="t" r="r" b="b"/>
            <a:pathLst>
              <a:path w="18297" h="113094" extrusionOk="0">
                <a:moveTo>
                  <a:pt x="0" y="0"/>
                </a:moveTo>
                <a:lnTo>
                  <a:pt x="0" y="113094"/>
                </a:lnTo>
                <a:cubicBezTo>
                  <a:pt x="201" y="109927"/>
                  <a:pt x="1224" y="108528"/>
                  <a:pt x="3444" y="106250"/>
                </a:cubicBezTo>
                <a:cubicBezTo>
                  <a:pt x="5672" y="103971"/>
                  <a:pt x="8344" y="101952"/>
                  <a:pt x="9584" y="99020"/>
                </a:cubicBezTo>
                <a:cubicBezTo>
                  <a:pt x="11075" y="95485"/>
                  <a:pt x="10137" y="91414"/>
                  <a:pt x="8822" y="87803"/>
                </a:cubicBezTo>
                <a:cubicBezTo>
                  <a:pt x="7507" y="84192"/>
                  <a:pt x="5806" y="80598"/>
                  <a:pt x="5798" y="76762"/>
                </a:cubicBezTo>
                <a:cubicBezTo>
                  <a:pt x="5781" y="66927"/>
                  <a:pt x="16537" y="59982"/>
                  <a:pt x="17735" y="50214"/>
                </a:cubicBezTo>
                <a:cubicBezTo>
                  <a:pt x="18296" y="45673"/>
                  <a:pt x="16663" y="41116"/>
                  <a:pt x="14418" y="37129"/>
                </a:cubicBezTo>
                <a:cubicBezTo>
                  <a:pt x="12173" y="33133"/>
                  <a:pt x="9308" y="29522"/>
                  <a:pt x="7063" y="25526"/>
                </a:cubicBezTo>
                <a:cubicBezTo>
                  <a:pt x="5873" y="23415"/>
                  <a:pt x="4843" y="21120"/>
                  <a:pt x="4809" y="18690"/>
                </a:cubicBezTo>
                <a:cubicBezTo>
                  <a:pt x="4759" y="14946"/>
                  <a:pt x="7063" y="11595"/>
                  <a:pt x="7808" y="7917"/>
                </a:cubicBezTo>
                <a:cubicBezTo>
                  <a:pt x="8294" y="5546"/>
                  <a:pt x="7741" y="2279"/>
                  <a:pt x="69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713225" y="117400"/>
            <a:ext cx="997800" cy="99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 rot="5400000">
            <a:off x="7653550" y="3653050"/>
            <a:ext cx="677950" cy="2302950"/>
          </a:xfrm>
          <a:custGeom>
            <a:avLst/>
            <a:gdLst/>
            <a:ahLst/>
            <a:cxnLst/>
            <a:rect l="l" t="t" r="r" b="b"/>
            <a:pathLst>
              <a:path w="27118" h="92118" extrusionOk="0">
                <a:moveTo>
                  <a:pt x="27118" y="1"/>
                </a:moveTo>
                <a:cubicBezTo>
                  <a:pt x="15432" y="6133"/>
                  <a:pt x="6158" y="17736"/>
                  <a:pt x="3075" y="30578"/>
                </a:cubicBezTo>
                <a:cubicBezTo>
                  <a:pt x="1" y="43412"/>
                  <a:pt x="2723" y="57519"/>
                  <a:pt x="10363" y="68293"/>
                </a:cubicBezTo>
                <a:cubicBezTo>
                  <a:pt x="12525" y="71334"/>
                  <a:pt x="15038" y="74106"/>
                  <a:pt x="17358" y="77039"/>
                </a:cubicBezTo>
                <a:cubicBezTo>
                  <a:pt x="21128" y="81780"/>
                  <a:pt x="24462" y="86681"/>
                  <a:pt x="27118" y="92118"/>
                </a:cubicBezTo>
                <a:lnTo>
                  <a:pt x="2711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4923138" y="3093859"/>
            <a:ext cx="2505600" cy="15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2"/>
          </p:nvPr>
        </p:nvSpPr>
        <p:spPr>
          <a:xfrm>
            <a:off x="1715263" y="3093859"/>
            <a:ext cx="2505600" cy="15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3"/>
          </p:nvPr>
        </p:nvSpPr>
        <p:spPr>
          <a:xfrm>
            <a:off x="1715250" y="2419697"/>
            <a:ext cx="2505600" cy="67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4"/>
          </p:nvPr>
        </p:nvSpPr>
        <p:spPr>
          <a:xfrm>
            <a:off x="4923125" y="2419697"/>
            <a:ext cx="2505600" cy="67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 rot="-5400000">
            <a:off x="7191346" y="1401539"/>
            <a:ext cx="3354191" cy="551132"/>
          </a:xfrm>
          <a:custGeom>
            <a:avLst/>
            <a:gdLst/>
            <a:ahLst/>
            <a:cxnLst/>
            <a:rect l="l" t="t" r="r" b="b"/>
            <a:pathLst>
              <a:path w="151739" h="16248" extrusionOk="0">
                <a:moveTo>
                  <a:pt x="66082" y="0"/>
                </a:moveTo>
                <a:cubicBezTo>
                  <a:pt x="63985" y="0"/>
                  <a:pt x="61893" y="194"/>
                  <a:pt x="59823" y="624"/>
                </a:cubicBezTo>
                <a:cubicBezTo>
                  <a:pt x="54637" y="1696"/>
                  <a:pt x="49820" y="4218"/>
                  <a:pt x="44601" y="5139"/>
                </a:cubicBezTo>
                <a:cubicBezTo>
                  <a:pt x="42533" y="5503"/>
                  <a:pt x="40444" y="5608"/>
                  <a:pt x="38346" y="5608"/>
                </a:cubicBezTo>
                <a:cubicBezTo>
                  <a:pt x="35446" y="5608"/>
                  <a:pt x="32529" y="5407"/>
                  <a:pt x="29622" y="5407"/>
                </a:cubicBezTo>
                <a:cubicBezTo>
                  <a:pt x="28906" y="5407"/>
                  <a:pt x="28192" y="5419"/>
                  <a:pt x="27478" y="5449"/>
                </a:cubicBezTo>
                <a:cubicBezTo>
                  <a:pt x="17149" y="5885"/>
                  <a:pt x="7322" y="8842"/>
                  <a:pt x="0" y="16130"/>
                </a:cubicBezTo>
                <a:lnTo>
                  <a:pt x="151739" y="16248"/>
                </a:lnTo>
                <a:cubicBezTo>
                  <a:pt x="142318" y="10900"/>
                  <a:pt x="132333" y="5397"/>
                  <a:pt x="121516" y="5397"/>
                </a:cubicBezTo>
                <a:cubicBezTo>
                  <a:pt x="121387" y="5397"/>
                  <a:pt x="121258" y="5397"/>
                  <a:pt x="121128" y="5399"/>
                </a:cubicBezTo>
                <a:cubicBezTo>
                  <a:pt x="113996" y="5485"/>
                  <a:pt x="106950" y="8016"/>
                  <a:pt x="99890" y="8016"/>
                </a:cubicBezTo>
                <a:cubicBezTo>
                  <a:pt x="98665" y="8016"/>
                  <a:pt x="97440" y="7940"/>
                  <a:pt x="96214" y="7761"/>
                </a:cubicBezTo>
                <a:cubicBezTo>
                  <a:pt x="91958" y="7142"/>
                  <a:pt x="87987" y="5324"/>
                  <a:pt x="83966" y="3791"/>
                </a:cubicBezTo>
                <a:cubicBezTo>
                  <a:pt x="78251" y="1618"/>
                  <a:pt x="72148" y="0"/>
                  <a:pt x="6608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8289725" y="249625"/>
            <a:ext cx="650700" cy="65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 rot="-5400000">
            <a:off x="1158850" y="3504950"/>
            <a:ext cx="457425" cy="2827350"/>
          </a:xfrm>
          <a:custGeom>
            <a:avLst/>
            <a:gdLst/>
            <a:ahLst/>
            <a:cxnLst/>
            <a:rect l="l" t="t" r="r" b="b"/>
            <a:pathLst>
              <a:path w="18297" h="113094" extrusionOk="0">
                <a:moveTo>
                  <a:pt x="0" y="0"/>
                </a:moveTo>
                <a:lnTo>
                  <a:pt x="0" y="113094"/>
                </a:lnTo>
                <a:cubicBezTo>
                  <a:pt x="201" y="109927"/>
                  <a:pt x="1224" y="108528"/>
                  <a:pt x="3444" y="106250"/>
                </a:cubicBezTo>
                <a:cubicBezTo>
                  <a:pt x="5672" y="103971"/>
                  <a:pt x="8344" y="101952"/>
                  <a:pt x="9584" y="99020"/>
                </a:cubicBezTo>
                <a:cubicBezTo>
                  <a:pt x="11075" y="95485"/>
                  <a:pt x="10137" y="91414"/>
                  <a:pt x="8822" y="87803"/>
                </a:cubicBezTo>
                <a:cubicBezTo>
                  <a:pt x="7507" y="84192"/>
                  <a:pt x="5806" y="80598"/>
                  <a:pt x="5798" y="76762"/>
                </a:cubicBezTo>
                <a:cubicBezTo>
                  <a:pt x="5781" y="66927"/>
                  <a:pt x="16537" y="59982"/>
                  <a:pt x="17735" y="50214"/>
                </a:cubicBezTo>
                <a:cubicBezTo>
                  <a:pt x="18296" y="45673"/>
                  <a:pt x="16663" y="41116"/>
                  <a:pt x="14418" y="37129"/>
                </a:cubicBezTo>
                <a:cubicBezTo>
                  <a:pt x="12173" y="33133"/>
                  <a:pt x="9308" y="29522"/>
                  <a:pt x="7063" y="25526"/>
                </a:cubicBezTo>
                <a:cubicBezTo>
                  <a:pt x="5873" y="23415"/>
                  <a:pt x="4843" y="21120"/>
                  <a:pt x="4809" y="18690"/>
                </a:cubicBezTo>
                <a:cubicBezTo>
                  <a:pt x="4759" y="14946"/>
                  <a:pt x="7063" y="11595"/>
                  <a:pt x="7808" y="7917"/>
                </a:cubicBezTo>
                <a:cubicBezTo>
                  <a:pt x="8294" y="5546"/>
                  <a:pt x="7741" y="2279"/>
                  <a:pt x="69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 rot="5400000">
            <a:off x="0" y="-1"/>
            <a:ext cx="650700" cy="650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253075" y="445025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7713825" y="4649900"/>
            <a:ext cx="1018200" cy="1018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811975" y="115077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ubTitle" idx="1"/>
          </p:nvPr>
        </p:nvSpPr>
        <p:spPr>
          <a:xfrm>
            <a:off x="811975" y="186602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>
            <a:spLocks noGrp="1"/>
          </p:cNvSpPr>
          <p:nvPr>
            <p:ph type="pic" idx="2"/>
          </p:nvPr>
        </p:nvSpPr>
        <p:spPr>
          <a:xfrm>
            <a:off x="5325275" y="539550"/>
            <a:ext cx="2787000" cy="4064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" name="Google Shape;62;p7"/>
          <p:cNvSpPr/>
          <p:nvPr/>
        </p:nvSpPr>
        <p:spPr>
          <a:xfrm rot="-5400000" flipH="1">
            <a:off x="618350" y="3762150"/>
            <a:ext cx="763000" cy="1999700"/>
          </a:xfrm>
          <a:custGeom>
            <a:avLst/>
            <a:gdLst/>
            <a:ahLst/>
            <a:cxnLst/>
            <a:rect l="l" t="t" r="r" b="b"/>
            <a:pathLst>
              <a:path w="30520" h="79988" extrusionOk="0">
                <a:moveTo>
                  <a:pt x="1" y="1"/>
                </a:moveTo>
                <a:cubicBezTo>
                  <a:pt x="4240" y="738"/>
                  <a:pt x="9082" y="2237"/>
                  <a:pt x="12675" y="4608"/>
                </a:cubicBezTo>
                <a:cubicBezTo>
                  <a:pt x="16269" y="6979"/>
                  <a:pt x="18883" y="11394"/>
                  <a:pt x="17811" y="15557"/>
                </a:cubicBezTo>
                <a:cubicBezTo>
                  <a:pt x="16755" y="19712"/>
                  <a:pt x="12424" y="22619"/>
                  <a:pt x="11972" y="26883"/>
                </a:cubicBezTo>
                <a:cubicBezTo>
                  <a:pt x="11201" y="34188"/>
                  <a:pt x="21673" y="37858"/>
                  <a:pt x="23340" y="45004"/>
                </a:cubicBezTo>
                <a:cubicBezTo>
                  <a:pt x="24194" y="48681"/>
                  <a:pt x="22519" y="52401"/>
                  <a:pt x="21555" y="56045"/>
                </a:cubicBezTo>
                <a:cubicBezTo>
                  <a:pt x="19201" y="64983"/>
                  <a:pt x="22175" y="76000"/>
                  <a:pt x="30519" y="79987"/>
                </a:cubicBezTo>
                <a:lnTo>
                  <a:pt x="305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7582875" y="-718550"/>
            <a:ext cx="1424700" cy="1424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430300" y="4492799"/>
            <a:ext cx="650700" cy="650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197650" y="2141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664950" y="21415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9" name="Google Shape;69;p8"/>
          <p:cNvSpPr/>
          <p:nvPr/>
        </p:nvSpPr>
        <p:spPr>
          <a:xfrm rot="5400000" flipH="1">
            <a:off x="7008444" y="-642251"/>
            <a:ext cx="525615" cy="1785247"/>
          </a:xfrm>
          <a:custGeom>
            <a:avLst/>
            <a:gdLst/>
            <a:ahLst/>
            <a:cxnLst/>
            <a:rect l="l" t="t" r="r" b="b"/>
            <a:pathLst>
              <a:path w="27118" h="92118" extrusionOk="0">
                <a:moveTo>
                  <a:pt x="27118" y="1"/>
                </a:moveTo>
                <a:cubicBezTo>
                  <a:pt x="15432" y="6133"/>
                  <a:pt x="6158" y="17736"/>
                  <a:pt x="3075" y="30578"/>
                </a:cubicBezTo>
                <a:cubicBezTo>
                  <a:pt x="1" y="43412"/>
                  <a:pt x="2723" y="57519"/>
                  <a:pt x="10363" y="68293"/>
                </a:cubicBezTo>
                <a:cubicBezTo>
                  <a:pt x="12525" y="71334"/>
                  <a:pt x="15038" y="74106"/>
                  <a:pt x="17358" y="77039"/>
                </a:cubicBezTo>
                <a:cubicBezTo>
                  <a:pt x="21128" y="81780"/>
                  <a:pt x="24462" y="86681"/>
                  <a:pt x="27118" y="92118"/>
                </a:cubicBezTo>
                <a:lnTo>
                  <a:pt x="2711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8"/>
          <p:cNvSpPr/>
          <p:nvPr/>
        </p:nvSpPr>
        <p:spPr>
          <a:xfrm rot="-5400000" flipH="1">
            <a:off x="1184975" y="-1197375"/>
            <a:ext cx="457425" cy="2827350"/>
          </a:xfrm>
          <a:custGeom>
            <a:avLst/>
            <a:gdLst/>
            <a:ahLst/>
            <a:cxnLst/>
            <a:rect l="l" t="t" r="r" b="b"/>
            <a:pathLst>
              <a:path w="18297" h="113094" extrusionOk="0">
                <a:moveTo>
                  <a:pt x="0" y="0"/>
                </a:moveTo>
                <a:lnTo>
                  <a:pt x="0" y="113094"/>
                </a:lnTo>
                <a:cubicBezTo>
                  <a:pt x="201" y="109927"/>
                  <a:pt x="1224" y="108528"/>
                  <a:pt x="3444" y="106250"/>
                </a:cubicBezTo>
                <a:cubicBezTo>
                  <a:pt x="5672" y="103971"/>
                  <a:pt x="8344" y="101952"/>
                  <a:pt x="9584" y="99020"/>
                </a:cubicBezTo>
                <a:cubicBezTo>
                  <a:pt x="11075" y="95485"/>
                  <a:pt x="10137" y="91414"/>
                  <a:pt x="8822" y="87803"/>
                </a:cubicBezTo>
                <a:cubicBezTo>
                  <a:pt x="7507" y="84192"/>
                  <a:pt x="5806" y="80598"/>
                  <a:pt x="5798" y="76762"/>
                </a:cubicBezTo>
                <a:cubicBezTo>
                  <a:pt x="5781" y="66927"/>
                  <a:pt x="16537" y="59982"/>
                  <a:pt x="17735" y="50214"/>
                </a:cubicBezTo>
                <a:cubicBezTo>
                  <a:pt x="18296" y="45673"/>
                  <a:pt x="16663" y="41116"/>
                  <a:pt x="14418" y="37129"/>
                </a:cubicBezTo>
                <a:cubicBezTo>
                  <a:pt x="12173" y="33133"/>
                  <a:pt x="9308" y="29522"/>
                  <a:pt x="7063" y="25526"/>
                </a:cubicBezTo>
                <a:cubicBezTo>
                  <a:pt x="5873" y="23415"/>
                  <a:pt x="4843" y="21120"/>
                  <a:pt x="4809" y="18690"/>
                </a:cubicBezTo>
                <a:cubicBezTo>
                  <a:pt x="4759" y="14946"/>
                  <a:pt x="7063" y="11595"/>
                  <a:pt x="7808" y="7917"/>
                </a:cubicBezTo>
                <a:cubicBezTo>
                  <a:pt x="8294" y="5546"/>
                  <a:pt x="7741" y="2279"/>
                  <a:pt x="69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8"/>
          <p:cNvSpPr/>
          <p:nvPr/>
        </p:nvSpPr>
        <p:spPr>
          <a:xfrm flipH="1">
            <a:off x="7864125" y="3831375"/>
            <a:ext cx="1279875" cy="1312125"/>
          </a:xfrm>
          <a:custGeom>
            <a:avLst/>
            <a:gdLst/>
            <a:ahLst/>
            <a:cxnLst/>
            <a:rect l="l" t="t" r="r" b="b"/>
            <a:pathLst>
              <a:path w="51195" h="52485" extrusionOk="0">
                <a:moveTo>
                  <a:pt x="1" y="1"/>
                </a:moveTo>
                <a:lnTo>
                  <a:pt x="1" y="52485"/>
                </a:lnTo>
                <a:lnTo>
                  <a:pt x="51161" y="52485"/>
                </a:lnTo>
                <a:cubicBezTo>
                  <a:pt x="51194" y="49737"/>
                  <a:pt x="50843" y="48020"/>
                  <a:pt x="50114" y="45372"/>
                </a:cubicBezTo>
                <a:cubicBezTo>
                  <a:pt x="49385" y="42717"/>
                  <a:pt x="48070" y="39935"/>
                  <a:pt x="45548" y="38846"/>
                </a:cubicBezTo>
                <a:cubicBezTo>
                  <a:pt x="44350" y="38329"/>
                  <a:pt x="43039" y="38263"/>
                  <a:pt x="41721" y="38263"/>
                </a:cubicBezTo>
                <a:cubicBezTo>
                  <a:pt x="41276" y="38263"/>
                  <a:pt x="40830" y="38271"/>
                  <a:pt x="40387" y="38271"/>
                </a:cubicBezTo>
                <a:cubicBezTo>
                  <a:pt x="40253" y="38271"/>
                  <a:pt x="40119" y="38270"/>
                  <a:pt x="39986" y="38268"/>
                </a:cubicBezTo>
                <a:cubicBezTo>
                  <a:pt x="36417" y="38226"/>
                  <a:pt x="32597" y="37179"/>
                  <a:pt x="30385" y="34381"/>
                </a:cubicBezTo>
                <a:cubicBezTo>
                  <a:pt x="28450" y="31918"/>
                  <a:pt x="28098" y="28609"/>
                  <a:pt x="27193" y="25610"/>
                </a:cubicBezTo>
                <a:cubicBezTo>
                  <a:pt x="26297" y="22611"/>
                  <a:pt x="24286" y="19436"/>
                  <a:pt x="21162" y="19135"/>
                </a:cubicBezTo>
                <a:cubicBezTo>
                  <a:pt x="21005" y="19120"/>
                  <a:pt x="20848" y="19113"/>
                  <a:pt x="20692" y="19113"/>
                </a:cubicBezTo>
                <a:cubicBezTo>
                  <a:pt x="18151" y="19113"/>
                  <a:pt x="15785" y="20948"/>
                  <a:pt x="13216" y="20948"/>
                </a:cubicBezTo>
                <a:cubicBezTo>
                  <a:pt x="13148" y="20948"/>
                  <a:pt x="13079" y="20947"/>
                  <a:pt x="13011" y="20944"/>
                </a:cubicBezTo>
                <a:cubicBezTo>
                  <a:pt x="9551" y="20810"/>
                  <a:pt x="7180" y="17292"/>
                  <a:pt x="6367" y="13924"/>
                </a:cubicBezTo>
                <a:cubicBezTo>
                  <a:pt x="5907" y="12014"/>
                  <a:pt x="5756" y="10062"/>
                  <a:pt x="5446" y="8135"/>
                </a:cubicBezTo>
                <a:cubicBezTo>
                  <a:pt x="5153" y="6275"/>
                  <a:pt x="4583" y="4692"/>
                  <a:pt x="3913" y="2958"/>
                </a:cubicBezTo>
                <a:cubicBezTo>
                  <a:pt x="3653" y="2254"/>
                  <a:pt x="3343" y="1559"/>
                  <a:pt x="2849" y="998"/>
                </a:cubicBezTo>
                <a:cubicBezTo>
                  <a:pt x="2078" y="118"/>
                  <a:pt x="1098" y="26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8"/>
          <p:cNvSpPr/>
          <p:nvPr/>
        </p:nvSpPr>
        <p:spPr>
          <a:xfrm flipH="1">
            <a:off x="7754700" y="-849800"/>
            <a:ext cx="1389300" cy="1389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/>
          <p:nvPr/>
        </p:nvSpPr>
        <p:spPr>
          <a:xfrm flipH="1">
            <a:off x="0" y="4229101"/>
            <a:ext cx="650700" cy="91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/>
          <p:nvPr/>
        </p:nvSpPr>
        <p:spPr>
          <a:xfrm rot="10800000" flipH="1">
            <a:off x="212325" y="4744525"/>
            <a:ext cx="2286275" cy="405770"/>
          </a:xfrm>
          <a:custGeom>
            <a:avLst/>
            <a:gdLst/>
            <a:ahLst/>
            <a:cxnLst/>
            <a:rect l="l" t="t" r="r" b="b"/>
            <a:pathLst>
              <a:path w="123399" h="21898" extrusionOk="0">
                <a:moveTo>
                  <a:pt x="1" y="0"/>
                </a:moveTo>
                <a:cubicBezTo>
                  <a:pt x="7417" y="9259"/>
                  <a:pt x="20028" y="12630"/>
                  <a:pt x="32089" y="12630"/>
                </a:cubicBezTo>
                <a:cubicBezTo>
                  <a:pt x="33572" y="12630"/>
                  <a:pt x="35046" y="12580"/>
                  <a:pt x="36501" y="12482"/>
                </a:cubicBezTo>
                <a:cubicBezTo>
                  <a:pt x="38486" y="12347"/>
                  <a:pt x="40505" y="12152"/>
                  <a:pt x="42499" y="12152"/>
                </a:cubicBezTo>
                <a:cubicBezTo>
                  <a:pt x="44460" y="12152"/>
                  <a:pt x="46397" y="12341"/>
                  <a:pt x="48254" y="12960"/>
                </a:cubicBezTo>
                <a:cubicBezTo>
                  <a:pt x="51195" y="13932"/>
                  <a:pt x="53683" y="15917"/>
                  <a:pt x="56355" y="17492"/>
                </a:cubicBezTo>
                <a:cubicBezTo>
                  <a:pt x="61346" y="20443"/>
                  <a:pt x="67131" y="21898"/>
                  <a:pt x="72922" y="21898"/>
                </a:cubicBezTo>
                <a:cubicBezTo>
                  <a:pt x="79922" y="21898"/>
                  <a:pt x="86932" y="19772"/>
                  <a:pt x="92562" y="15590"/>
                </a:cubicBezTo>
                <a:cubicBezTo>
                  <a:pt x="96566" y="12616"/>
                  <a:pt x="100034" y="8654"/>
                  <a:pt x="104784" y="7121"/>
                </a:cubicBezTo>
                <a:cubicBezTo>
                  <a:pt x="108093" y="6057"/>
                  <a:pt x="111662" y="6308"/>
                  <a:pt x="115105" y="5814"/>
                </a:cubicBezTo>
                <a:cubicBezTo>
                  <a:pt x="118548" y="5320"/>
                  <a:pt x="122092" y="3225"/>
                  <a:pt x="1233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7795925" y="0"/>
            <a:ext cx="1348075" cy="1455175"/>
          </a:xfrm>
          <a:custGeom>
            <a:avLst/>
            <a:gdLst/>
            <a:ahLst/>
            <a:cxnLst/>
            <a:rect l="l" t="t" r="r" b="b"/>
            <a:pathLst>
              <a:path w="53923" h="58207" extrusionOk="0">
                <a:moveTo>
                  <a:pt x="378" y="1"/>
                </a:moveTo>
                <a:cubicBezTo>
                  <a:pt x="1" y="2430"/>
                  <a:pt x="1098" y="5245"/>
                  <a:pt x="2992" y="6987"/>
                </a:cubicBezTo>
                <a:cubicBezTo>
                  <a:pt x="5823" y="9593"/>
                  <a:pt x="9744" y="10531"/>
                  <a:pt x="13312" y="11947"/>
                </a:cubicBezTo>
                <a:cubicBezTo>
                  <a:pt x="19621" y="14451"/>
                  <a:pt x="25476" y="19093"/>
                  <a:pt x="27571" y="25551"/>
                </a:cubicBezTo>
                <a:cubicBezTo>
                  <a:pt x="29070" y="30176"/>
                  <a:pt x="28551" y="35386"/>
                  <a:pt x="30729" y="39734"/>
                </a:cubicBezTo>
                <a:cubicBezTo>
                  <a:pt x="33234" y="44744"/>
                  <a:pt x="38712" y="47466"/>
                  <a:pt x="43998" y="49335"/>
                </a:cubicBezTo>
                <a:cubicBezTo>
                  <a:pt x="46244" y="50139"/>
                  <a:pt x="48564" y="50868"/>
                  <a:pt x="50508" y="52250"/>
                </a:cubicBezTo>
                <a:cubicBezTo>
                  <a:pt x="52333" y="53540"/>
                  <a:pt x="53811" y="55555"/>
                  <a:pt x="53915" y="57773"/>
                </a:cubicBezTo>
                <a:lnTo>
                  <a:pt x="53915" y="57773"/>
                </a:lnTo>
                <a:lnTo>
                  <a:pt x="53574" y="1"/>
                </a:lnTo>
                <a:close/>
                <a:moveTo>
                  <a:pt x="53915" y="57773"/>
                </a:moveTo>
                <a:lnTo>
                  <a:pt x="53917" y="58206"/>
                </a:lnTo>
                <a:cubicBezTo>
                  <a:pt x="53922" y="58061"/>
                  <a:pt x="53921" y="57917"/>
                  <a:pt x="53915" y="5777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9"/>
          <p:cNvSpPr/>
          <p:nvPr/>
        </p:nvSpPr>
        <p:spPr>
          <a:xfrm rot="10800000">
            <a:off x="368925" y="427865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/>
          <p:nvPr/>
        </p:nvSpPr>
        <p:spPr>
          <a:xfrm rot="10800000">
            <a:off x="776450" y="427865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/>
          <p:nvPr/>
        </p:nvSpPr>
        <p:spPr>
          <a:xfrm rot="5400000" flipH="1">
            <a:off x="6945664" y="2945164"/>
            <a:ext cx="612263" cy="3784408"/>
          </a:xfrm>
          <a:custGeom>
            <a:avLst/>
            <a:gdLst/>
            <a:ahLst/>
            <a:cxnLst/>
            <a:rect l="l" t="t" r="r" b="b"/>
            <a:pathLst>
              <a:path w="18297" h="113094" extrusionOk="0">
                <a:moveTo>
                  <a:pt x="0" y="0"/>
                </a:moveTo>
                <a:lnTo>
                  <a:pt x="0" y="113094"/>
                </a:lnTo>
                <a:cubicBezTo>
                  <a:pt x="201" y="109927"/>
                  <a:pt x="1224" y="108528"/>
                  <a:pt x="3444" y="106250"/>
                </a:cubicBezTo>
                <a:cubicBezTo>
                  <a:pt x="5672" y="103971"/>
                  <a:pt x="8344" y="101952"/>
                  <a:pt x="9584" y="99020"/>
                </a:cubicBezTo>
                <a:cubicBezTo>
                  <a:pt x="11075" y="95485"/>
                  <a:pt x="10137" y="91414"/>
                  <a:pt x="8822" y="87803"/>
                </a:cubicBezTo>
                <a:cubicBezTo>
                  <a:pt x="7507" y="84192"/>
                  <a:pt x="5806" y="80598"/>
                  <a:pt x="5798" y="76762"/>
                </a:cubicBezTo>
                <a:cubicBezTo>
                  <a:pt x="5781" y="66927"/>
                  <a:pt x="16537" y="59982"/>
                  <a:pt x="17735" y="50214"/>
                </a:cubicBezTo>
                <a:cubicBezTo>
                  <a:pt x="18296" y="45673"/>
                  <a:pt x="16663" y="41116"/>
                  <a:pt x="14418" y="37129"/>
                </a:cubicBezTo>
                <a:cubicBezTo>
                  <a:pt x="12173" y="33133"/>
                  <a:pt x="9308" y="29522"/>
                  <a:pt x="7063" y="25526"/>
                </a:cubicBezTo>
                <a:cubicBezTo>
                  <a:pt x="5873" y="23415"/>
                  <a:pt x="4843" y="21120"/>
                  <a:pt x="4809" y="18690"/>
                </a:cubicBezTo>
                <a:cubicBezTo>
                  <a:pt x="4759" y="14946"/>
                  <a:pt x="7063" y="11595"/>
                  <a:pt x="7808" y="7917"/>
                </a:cubicBezTo>
                <a:cubicBezTo>
                  <a:pt x="8294" y="5546"/>
                  <a:pt x="7741" y="2279"/>
                  <a:pt x="69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"/>
          <p:cNvSpPr/>
          <p:nvPr/>
        </p:nvSpPr>
        <p:spPr>
          <a:xfrm rot="10800000">
            <a:off x="7469500" y="4050225"/>
            <a:ext cx="997800" cy="99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"/>
          <p:cNvSpPr/>
          <p:nvPr/>
        </p:nvSpPr>
        <p:spPr>
          <a:xfrm rot="-5400000">
            <a:off x="812500" y="-812500"/>
            <a:ext cx="677950" cy="2302950"/>
          </a:xfrm>
          <a:custGeom>
            <a:avLst/>
            <a:gdLst/>
            <a:ahLst/>
            <a:cxnLst/>
            <a:rect l="l" t="t" r="r" b="b"/>
            <a:pathLst>
              <a:path w="27118" h="92118" extrusionOk="0">
                <a:moveTo>
                  <a:pt x="27118" y="1"/>
                </a:moveTo>
                <a:cubicBezTo>
                  <a:pt x="15432" y="6133"/>
                  <a:pt x="6158" y="17736"/>
                  <a:pt x="3075" y="30578"/>
                </a:cubicBezTo>
                <a:cubicBezTo>
                  <a:pt x="1" y="43412"/>
                  <a:pt x="2723" y="57519"/>
                  <a:pt x="10363" y="68293"/>
                </a:cubicBezTo>
                <a:cubicBezTo>
                  <a:pt x="12525" y="71334"/>
                  <a:pt x="15038" y="74106"/>
                  <a:pt x="17358" y="77039"/>
                </a:cubicBezTo>
                <a:cubicBezTo>
                  <a:pt x="21128" y="81780"/>
                  <a:pt x="24462" y="86681"/>
                  <a:pt x="27118" y="92118"/>
                </a:cubicBezTo>
                <a:lnTo>
                  <a:pt x="2711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9850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subTitle" idx="1"/>
          </p:nvPr>
        </p:nvSpPr>
        <p:spPr>
          <a:xfrm>
            <a:off x="1284000" y="308655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9" name="Google Shape;89;p11"/>
          <p:cNvSpPr/>
          <p:nvPr/>
        </p:nvSpPr>
        <p:spPr>
          <a:xfrm flipH="1">
            <a:off x="1477340" y="4604003"/>
            <a:ext cx="7161701" cy="766865"/>
          </a:xfrm>
          <a:custGeom>
            <a:avLst/>
            <a:gdLst/>
            <a:ahLst/>
            <a:cxnLst/>
            <a:rect l="l" t="t" r="r" b="b"/>
            <a:pathLst>
              <a:path w="151739" h="16248" extrusionOk="0">
                <a:moveTo>
                  <a:pt x="66082" y="0"/>
                </a:moveTo>
                <a:cubicBezTo>
                  <a:pt x="63985" y="0"/>
                  <a:pt x="61893" y="194"/>
                  <a:pt x="59823" y="624"/>
                </a:cubicBezTo>
                <a:cubicBezTo>
                  <a:pt x="54637" y="1696"/>
                  <a:pt x="49820" y="4218"/>
                  <a:pt x="44601" y="5139"/>
                </a:cubicBezTo>
                <a:cubicBezTo>
                  <a:pt x="42533" y="5503"/>
                  <a:pt x="40444" y="5608"/>
                  <a:pt x="38346" y="5608"/>
                </a:cubicBezTo>
                <a:cubicBezTo>
                  <a:pt x="35446" y="5608"/>
                  <a:pt x="32529" y="5407"/>
                  <a:pt x="29622" y="5407"/>
                </a:cubicBezTo>
                <a:cubicBezTo>
                  <a:pt x="28906" y="5407"/>
                  <a:pt x="28192" y="5419"/>
                  <a:pt x="27478" y="5449"/>
                </a:cubicBezTo>
                <a:cubicBezTo>
                  <a:pt x="17149" y="5885"/>
                  <a:pt x="7322" y="8842"/>
                  <a:pt x="0" y="16130"/>
                </a:cubicBezTo>
                <a:lnTo>
                  <a:pt x="151739" y="16248"/>
                </a:lnTo>
                <a:cubicBezTo>
                  <a:pt x="142318" y="10900"/>
                  <a:pt x="132333" y="5397"/>
                  <a:pt x="121516" y="5397"/>
                </a:cubicBezTo>
                <a:cubicBezTo>
                  <a:pt x="121387" y="5397"/>
                  <a:pt x="121258" y="5397"/>
                  <a:pt x="121128" y="5399"/>
                </a:cubicBezTo>
                <a:cubicBezTo>
                  <a:pt x="113996" y="5485"/>
                  <a:pt x="106950" y="8016"/>
                  <a:pt x="99890" y="8016"/>
                </a:cubicBezTo>
                <a:cubicBezTo>
                  <a:pt x="98665" y="8016"/>
                  <a:pt x="97440" y="7940"/>
                  <a:pt x="96214" y="7761"/>
                </a:cubicBezTo>
                <a:cubicBezTo>
                  <a:pt x="91958" y="7142"/>
                  <a:pt x="87987" y="5324"/>
                  <a:pt x="83966" y="3791"/>
                </a:cubicBezTo>
                <a:cubicBezTo>
                  <a:pt x="78251" y="1618"/>
                  <a:pt x="72148" y="0"/>
                  <a:pt x="660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1"/>
          <p:cNvSpPr/>
          <p:nvPr/>
        </p:nvSpPr>
        <p:spPr>
          <a:xfrm flipH="1">
            <a:off x="2467850" y="4148075"/>
            <a:ext cx="1434000" cy="143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1"/>
          <p:cNvSpPr/>
          <p:nvPr/>
        </p:nvSpPr>
        <p:spPr>
          <a:xfrm flipH="1">
            <a:off x="1314295" y="-1006250"/>
            <a:ext cx="1899000" cy="1899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1"/>
          <p:cNvSpPr/>
          <p:nvPr/>
        </p:nvSpPr>
        <p:spPr>
          <a:xfrm flipH="1">
            <a:off x="0" y="9"/>
            <a:ext cx="1647752" cy="1778660"/>
          </a:xfrm>
          <a:custGeom>
            <a:avLst/>
            <a:gdLst/>
            <a:ahLst/>
            <a:cxnLst/>
            <a:rect l="l" t="t" r="r" b="b"/>
            <a:pathLst>
              <a:path w="53923" h="58207" extrusionOk="0">
                <a:moveTo>
                  <a:pt x="378" y="1"/>
                </a:moveTo>
                <a:cubicBezTo>
                  <a:pt x="1" y="2430"/>
                  <a:pt x="1098" y="5245"/>
                  <a:pt x="2992" y="6987"/>
                </a:cubicBezTo>
                <a:cubicBezTo>
                  <a:pt x="5823" y="9593"/>
                  <a:pt x="9744" y="10531"/>
                  <a:pt x="13312" y="11947"/>
                </a:cubicBezTo>
                <a:cubicBezTo>
                  <a:pt x="19621" y="14451"/>
                  <a:pt x="25476" y="19093"/>
                  <a:pt x="27571" y="25551"/>
                </a:cubicBezTo>
                <a:cubicBezTo>
                  <a:pt x="29070" y="30176"/>
                  <a:pt x="28551" y="35386"/>
                  <a:pt x="30729" y="39734"/>
                </a:cubicBezTo>
                <a:cubicBezTo>
                  <a:pt x="33234" y="44744"/>
                  <a:pt x="38712" y="47466"/>
                  <a:pt x="43998" y="49335"/>
                </a:cubicBezTo>
                <a:cubicBezTo>
                  <a:pt x="46244" y="50139"/>
                  <a:pt x="48564" y="50868"/>
                  <a:pt x="50508" y="52250"/>
                </a:cubicBezTo>
                <a:cubicBezTo>
                  <a:pt x="52333" y="53540"/>
                  <a:pt x="53811" y="55555"/>
                  <a:pt x="53915" y="57773"/>
                </a:cubicBezTo>
                <a:lnTo>
                  <a:pt x="53915" y="57773"/>
                </a:lnTo>
                <a:lnTo>
                  <a:pt x="53574" y="1"/>
                </a:lnTo>
                <a:close/>
                <a:moveTo>
                  <a:pt x="53915" y="57773"/>
                </a:moveTo>
                <a:lnTo>
                  <a:pt x="53917" y="58206"/>
                </a:lnTo>
                <a:cubicBezTo>
                  <a:pt x="53922" y="58061"/>
                  <a:pt x="53921" y="57917"/>
                  <a:pt x="53915" y="5777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1"/>
          <p:cNvSpPr/>
          <p:nvPr/>
        </p:nvSpPr>
        <p:spPr>
          <a:xfrm flipH="1">
            <a:off x="5206259" y="0"/>
            <a:ext cx="3977458" cy="705827"/>
          </a:xfrm>
          <a:custGeom>
            <a:avLst/>
            <a:gdLst/>
            <a:ahLst/>
            <a:cxnLst/>
            <a:rect l="l" t="t" r="r" b="b"/>
            <a:pathLst>
              <a:path w="123399" h="21898" extrusionOk="0">
                <a:moveTo>
                  <a:pt x="1" y="0"/>
                </a:moveTo>
                <a:cubicBezTo>
                  <a:pt x="7417" y="9259"/>
                  <a:pt x="20028" y="12630"/>
                  <a:pt x="32089" y="12630"/>
                </a:cubicBezTo>
                <a:cubicBezTo>
                  <a:pt x="33572" y="12630"/>
                  <a:pt x="35046" y="12580"/>
                  <a:pt x="36501" y="12482"/>
                </a:cubicBezTo>
                <a:cubicBezTo>
                  <a:pt x="38486" y="12347"/>
                  <a:pt x="40505" y="12152"/>
                  <a:pt x="42499" y="12152"/>
                </a:cubicBezTo>
                <a:cubicBezTo>
                  <a:pt x="44460" y="12152"/>
                  <a:pt x="46397" y="12341"/>
                  <a:pt x="48254" y="12960"/>
                </a:cubicBezTo>
                <a:cubicBezTo>
                  <a:pt x="51195" y="13932"/>
                  <a:pt x="53683" y="15917"/>
                  <a:pt x="56355" y="17492"/>
                </a:cubicBezTo>
                <a:cubicBezTo>
                  <a:pt x="61346" y="20443"/>
                  <a:pt x="67131" y="21898"/>
                  <a:pt x="72922" y="21898"/>
                </a:cubicBezTo>
                <a:cubicBezTo>
                  <a:pt x="79922" y="21898"/>
                  <a:pt x="86932" y="19772"/>
                  <a:pt x="92562" y="15590"/>
                </a:cubicBezTo>
                <a:cubicBezTo>
                  <a:pt x="96566" y="12616"/>
                  <a:pt x="100034" y="8654"/>
                  <a:pt x="104784" y="7121"/>
                </a:cubicBezTo>
                <a:cubicBezTo>
                  <a:pt x="108093" y="6057"/>
                  <a:pt x="111662" y="6308"/>
                  <a:pt x="115105" y="5814"/>
                </a:cubicBezTo>
                <a:cubicBezTo>
                  <a:pt x="118548" y="5320"/>
                  <a:pt x="122092" y="3225"/>
                  <a:pt x="12339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1"/>
          <p:cNvSpPr/>
          <p:nvPr/>
        </p:nvSpPr>
        <p:spPr>
          <a:xfrm flipH="1">
            <a:off x="7861365" y="230455"/>
            <a:ext cx="838800" cy="838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1"/>
          <p:cNvSpPr/>
          <p:nvPr/>
        </p:nvSpPr>
        <p:spPr>
          <a:xfrm flipH="1">
            <a:off x="8297570" y="3878713"/>
            <a:ext cx="1114225" cy="1529576"/>
          </a:xfrm>
          <a:custGeom>
            <a:avLst/>
            <a:gdLst/>
            <a:ahLst/>
            <a:cxnLst/>
            <a:rect l="l" t="t" r="r" b="b"/>
            <a:pathLst>
              <a:path w="35102" h="48187" extrusionOk="0">
                <a:moveTo>
                  <a:pt x="0" y="0"/>
                </a:moveTo>
                <a:lnTo>
                  <a:pt x="0" y="48187"/>
                </a:lnTo>
                <a:lnTo>
                  <a:pt x="35101" y="48187"/>
                </a:lnTo>
                <a:cubicBezTo>
                  <a:pt x="33769" y="42875"/>
                  <a:pt x="32437" y="38377"/>
                  <a:pt x="31105" y="33066"/>
                </a:cubicBezTo>
                <a:cubicBezTo>
                  <a:pt x="30167" y="29338"/>
                  <a:pt x="29229" y="25593"/>
                  <a:pt x="27788" y="22024"/>
                </a:cubicBezTo>
                <a:cubicBezTo>
                  <a:pt x="26825" y="19645"/>
                  <a:pt x="25652" y="17341"/>
                  <a:pt x="24270" y="15172"/>
                </a:cubicBezTo>
                <a:cubicBezTo>
                  <a:pt x="18866" y="6686"/>
                  <a:pt x="10062" y="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1"/>
          <p:cNvSpPr/>
          <p:nvPr/>
        </p:nvSpPr>
        <p:spPr>
          <a:xfrm rot="5400000" flipH="1">
            <a:off x="-5" y="3878726"/>
            <a:ext cx="1130100" cy="113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/>
          <p:nvPr/>
        </p:nvSpPr>
        <p:spPr>
          <a:xfrm flipH="1">
            <a:off x="544620" y="352660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87876"/>
            <a:ext cx="734700" cy="49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3" hasCustomPrompt="1"/>
          </p:nvPr>
        </p:nvSpPr>
        <p:spPr>
          <a:xfrm>
            <a:off x="713225" y="3058475"/>
            <a:ext cx="734700" cy="49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487876"/>
            <a:ext cx="734700" cy="49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3058475"/>
            <a:ext cx="734700" cy="49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487876"/>
            <a:ext cx="734700" cy="49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3058475"/>
            <a:ext cx="734700" cy="49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"/>
          </p:nvPr>
        </p:nvSpPr>
        <p:spPr>
          <a:xfrm>
            <a:off x="713225" y="1990113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8"/>
          </p:nvPr>
        </p:nvSpPr>
        <p:spPr>
          <a:xfrm>
            <a:off x="3419275" y="19886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9"/>
          </p:nvPr>
        </p:nvSpPr>
        <p:spPr>
          <a:xfrm>
            <a:off x="6118550" y="19886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3"/>
          </p:nvPr>
        </p:nvSpPr>
        <p:spPr>
          <a:xfrm>
            <a:off x="713225" y="3560997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4"/>
          </p:nvPr>
        </p:nvSpPr>
        <p:spPr>
          <a:xfrm>
            <a:off x="3419275" y="3560997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5"/>
          </p:nvPr>
        </p:nvSpPr>
        <p:spPr>
          <a:xfrm>
            <a:off x="6118550" y="3560997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/>
          <p:nvPr/>
        </p:nvSpPr>
        <p:spPr>
          <a:xfrm rot="-5400000">
            <a:off x="1609941" y="-642251"/>
            <a:ext cx="525615" cy="1785247"/>
          </a:xfrm>
          <a:custGeom>
            <a:avLst/>
            <a:gdLst/>
            <a:ahLst/>
            <a:cxnLst/>
            <a:rect l="l" t="t" r="r" b="b"/>
            <a:pathLst>
              <a:path w="27118" h="92118" extrusionOk="0">
                <a:moveTo>
                  <a:pt x="27118" y="1"/>
                </a:moveTo>
                <a:cubicBezTo>
                  <a:pt x="15432" y="6133"/>
                  <a:pt x="6158" y="17736"/>
                  <a:pt x="3075" y="30578"/>
                </a:cubicBezTo>
                <a:cubicBezTo>
                  <a:pt x="1" y="43412"/>
                  <a:pt x="2723" y="57519"/>
                  <a:pt x="10363" y="68293"/>
                </a:cubicBezTo>
                <a:cubicBezTo>
                  <a:pt x="12525" y="71334"/>
                  <a:pt x="15038" y="74106"/>
                  <a:pt x="17358" y="77039"/>
                </a:cubicBezTo>
                <a:cubicBezTo>
                  <a:pt x="21128" y="81780"/>
                  <a:pt x="24462" y="86681"/>
                  <a:pt x="27118" y="92118"/>
                </a:cubicBezTo>
                <a:lnTo>
                  <a:pt x="2711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3"/>
          <p:cNvSpPr/>
          <p:nvPr/>
        </p:nvSpPr>
        <p:spPr>
          <a:xfrm rot="5400000">
            <a:off x="7501600" y="-1197375"/>
            <a:ext cx="457425" cy="2827350"/>
          </a:xfrm>
          <a:custGeom>
            <a:avLst/>
            <a:gdLst/>
            <a:ahLst/>
            <a:cxnLst/>
            <a:rect l="l" t="t" r="r" b="b"/>
            <a:pathLst>
              <a:path w="18297" h="113094" extrusionOk="0">
                <a:moveTo>
                  <a:pt x="0" y="0"/>
                </a:moveTo>
                <a:lnTo>
                  <a:pt x="0" y="113094"/>
                </a:lnTo>
                <a:cubicBezTo>
                  <a:pt x="201" y="109927"/>
                  <a:pt x="1224" y="108528"/>
                  <a:pt x="3444" y="106250"/>
                </a:cubicBezTo>
                <a:cubicBezTo>
                  <a:pt x="5672" y="103971"/>
                  <a:pt x="8344" y="101952"/>
                  <a:pt x="9584" y="99020"/>
                </a:cubicBezTo>
                <a:cubicBezTo>
                  <a:pt x="11075" y="95485"/>
                  <a:pt x="10137" y="91414"/>
                  <a:pt x="8822" y="87803"/>
                </a:cubicBezTo>
                <a:cubicBezTo>
                  <a:pt x="7507" y="84192"/>
                  <a:pt x="5806" y="80598"/>
                  <a:pt x="5798" y="76762"/>
                </a:cubicBezTo>
                <a:cubicBezTo>
                  <a:pt x="5781" y="66927"/>
                  <a:pt x="16537" y="59982"/>
                  <a:pt x="17735" y="50214"/>
                </a:cubicBezTo>
                <a:cubicBezTo>
                  <a:pt x="18296" y="45673"/>
                  <a:pt x="16663" y="41116"/>
                  <a:pt x="14418" y="37129"/>
                </a:cubicBezTo>
                <a:cubicBezTo>
                  <a:pt x="12173" y="33133"/>
                  <a:pt x="9308" y="29522"/>
                  <a:pt x="7063" y="25526"/>
                </a:cubicBezTo>
                <a:cubicBezTo>
                  <a:pt x="5873" y="23415"/>
                  <a:pt x="4843" y="21120"/>
                  <a:pt x="4809" y="18690"/>
                </a:cubicBezTo>
                <a:cubicBezTo>
                  <a:pt x="4759" y="14946"/>
                  <a:pt x="7063" y="11595"/>
                  <a:pt x="7808" y="7917"/>
                </a:cubicBezTo>
                <a:cubicBezTo>
                  <a:pt x="8294" y="5546"/>
                  <a:pt x="7741" y="2279"/>
                  <a:pt x="69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0" y="3831375"/>
            <a:ext cx="1279875" cy="1312125"/>
          </a:xfrm>
          <a:custGeom>
            <a:avLst/>
            <a:gdLst/>
            <a:ahLst/>
            <a:cxnLst/>
            <a:rect l="l" t="t" r="r" b="b"/>
            <a:pathLst>
              <a:path w="51195" h="52485" extrusionOk="0">
                <a:moveTo>
                  <a:pt x="1" y="1"/>
                </a:moveTo>
                <a:lnTo>
                  <a:pt x="1" y="52485"/>
                </a:lnTo>
                <a:lnTo>
                  <a:pt x="51161" y="52485"/>
                </a:lnTo>
                <a:cubicBezTo>
                  <a:pt x="51194" y="49737"/>
                  <a:pt x="50843" y="48020"/>
                  <a:pt x="50114" y="45372"/>
                </a:cubicBezTo>
                <a:cubicBezTo>
                  <a:pt x="49385" y="42717"/>
                  <a:pt x="48070" y="39935"/>
                  <a:pt x="45548" y="38846"/>
                </a:cubicBezTo>
                <a:cubicBezTo>
                  <a:pt x="44350" y="38329"/>
                  <a:pt x="43039" y="38263"/>
                  <a:pt x="41721" y="38263"/>
                </a:cubicBezTo>
                <a:cubicBezTo>
                  <a:pt x="41276" y="38263"/>
                  <a:pt x="40830" y="38271"/>
                  <a:pt x="40387" y="38271"/>
                </a:cubicBezTo>
                <a:cubicBezTo>
                  <a:pt x="40253" y="38271"/>
                  <a:pt x="40119" y="38270"/>
                  <a:pt x="39986" y="38268"/>
                </a:cubicBezTo>
                <a:cubicBezTo>
                  <a:pt x="36417" y="38226"/>
                  <a:pt x="32597" y="37179"/>
                  <a:pt x="30385" y="34381"/>
                </a:cubicBezTo>
                <a:cubicBezTo>
                  <a:pt x="28450" y="31918"/>
                  <a:pt x="28098" y="28609"/>
                  <a:pt x="27193" y="25610"/>
                </a:cubicBezTo>
                <a:cubicBezTo>
                  <a:pt x="26297" y="22611"/>
                  <a:pt x="24286" y="19436"/>
                  <a:pt x="21162" y="19135"/>
                </a:cubicBezTo>
                <a:cubicBezTo>
                  <a:pt x="21005" y="19120"/>
                  <a:pt x="20848" y="19113"/>
                  <a:pt x="20692" y="19113"/>
                </a:cubicBezTo>
                <a:cubicBezTo>
                  <a:pt x="18151" y="19113"/>
                  <a:pt x="15785" y="20948"/>
                  <a:pt x="13216" y="20948"/>
                </a:cubicBezTo>
                <a:cubicBezTo>
                  <a:pt x="13148" y="20948"/>
                  <a:pt x="13079" y="20947"/>
                  <a:pt x="13011" y="20944"/>
                </a:cubicBezTo>
                <a:cubicBezTo>
                  <a:pt x="9551" y="20810"/>
                  <a:pt x="7180" y="17292"/>
                  <a:pt x="6367" y="13924"/>
                </a:cubicBezTo>
                <a:cubicBezTo>
                  <a:pt x="5907" y="12014"/>
                  <a:pt x="5756" y="10062"/>
                  <a:pt x="5446" y="8135"/>
                </a:cubicBezTo>
                <a:cubicBezTo>
                  <a:pt x="5153" y="6275"/>
                  <a:pt x="4583" y="4692"/>
                  <a:pt x="3913" y="2958"/>
                </a:cubicBezTo>
                <a:cubicBezTo>
                  <a:pt x="3653" y="2254"/>
                  <a:pt x="3343" y="1559"/>
                  <a:pt x="2849" y="998"/>
                </a:cubicBezTo>
                <a:cubicBezTo>
                  <a:pt x="2078" y="118"/>
                  <a:pt x="1098" y="26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0" y="-849800"/>
            <a:ext cx="1389300" cy="1389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8493300" y="4229101"/>
            <a:ext cx="650700" cy="91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3"/>
          <p:cNvSpPr/>
          <p:nvPr/>
        </p:nvSpPr>
        <p:spPr>
          <a:xfrm rot="10800000">
            <a:off x="6645400" y="4744525"/>
            <a:ext cx="2286275" cy="405770"/>
          </a:xfrm>
          <a:custGeom>
            <a:avLst/>
            <a:gdLst/>
            <a:ahLst/>
            <a:cxnLst/>
            <a:rect l="l" t="t" r="r" b="b"/>
            <a:pathLst>
              <a:path w="123399" h="21898" extrusionOk="0">
                <a:moveTo>
                  <a:pt x="1" y="0"/>
                </a:moveTo>
                <a:cubicBezTo>
                  <a:pt x="7417" y="9259"/>
                  <a:pt x="20028" y="12630"/>
                  <a:pt x="32089" y="12630"/>
                </a:cubicBezTo>
                <a:cubicBezTo>
                  <a:pt x="33572" y="12630"/>
                  <a:pt x="35046" y="12580"/>
                  <a:pt x="36501" y="12482"/>
                </a:cubicBezTo>
                <a:cubicBezTo>
                  <a:pt x="38486" y="12347"/>
                  <a:pt x="40505" y="12152"/>
                  <a:pt x="42499" y="12152"/>
                </a:cubicBezTo>
                <a:cubicBezTo>
                  <a:pt x="44460" y="12152"/>
                  <a:pt x="46397" y="12341"/>
                  <a:pt x="48254" y="12960"/>
                </a:cubicBezTo>
                <a:cubicBezTo>
                  <a:pt x="51195" y="13932"/>
                  <a:pt x="53683" y="15917"/>
                  <a:pt x="56355" y="17492"/>
                </a:cubicBezTo>
                <a:cubicBezTo>
                  <a:pt x="61346" y="20443"/>
                  <a:pt x="67131" y="21898"/>
                  <a:pt x="72922" y="21898"/>
                </a:cubicBezTo>
                <a:cubicBezTo>
                  <a:pt x="79922" y="21898"/>
                  <a:pt x="86932" y="19772"/>
                  <a:pt x="92562" y="15590"/>
                </a:cubicBezTo>
                <a:cubicBezTo>
                  <a:pt x="96566" y="12616"/>
                  <a:pt x="100034" y="8654"/>
                  <a:pt x="104784" y="7121"/>
                </a:cubicBezTo>
                <a:cubicBezTo>
                  <a:pt x="108093" y="6057"/>
                  <a:pt x="111662" y="6308"/>
                  <a:pt x="115105" y="5814"/>
                </a:cubicBezTo>
                <a:cubicBezTo>
                  <a:pt x="118548" y="5320"/>
                  <a:pt x="122092" y="3225"/>
                  <a:pt x="1233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720000" y="1092300"/>
            <a:ext cx="77040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8381000" y="0"/>
            <a:ext cx="763000" cy="1999700"/>
          </a:xfrm>
          <a:custGeom>
            <a:avLst/>
            <a:gdLst/>
            <a:ahLst/>
            <a:cxnLst/>
            <a:rect l="l" t="t" r="r" b="b"/>
            <a:pathLst>
              <a:path w="30520" h="79988" extrusionOk="0">
                <a:moveTo>
                  <a:pt x="1" y="1"/>
                </a:moveTo>
                <a:cubicBezTo>
                  <a:pt x="4240" y="738"/>
                  <a:pt x="9082" y="2237"/>
                  <a:pt x="12675" y="4608"/>
                </a:cubicBezTo>
                <a:cubicBezTo>
                  <a:pt x="16269" y="6979"/>
                  <a:pt x="18883" y="11394"/>
                  <a:pt x="17811" y="15557"/>
                </a:cubicBezTo>
                <a:cubicBezTo>
                  <a:pt x="16755" y="19712"/>
                  <a:pt x="12424" y="22619"/>
                  <a:pt x="11972" y="26883"/>
                </a:cubicBezTo>
                <a:cubicBezTo>
                  <a:pt x="11201" y="34188"/>
                  <a:pt x="21673" y="37858"/>
                  <a:pt x="23340" y="45004"/>
                </a:cubicBezTo>
                <a:cubicBezTo>
                  <a:pt x="24194" y="48681"/>
                  <a:pt x="22519" y="52401"/>
                  <a:pt x="21555" y="56045"/>
                </a:cubicBezTo>
                <a:cubicBezTo>
                  <a:pt x="19201" y="64983"/>
                  <a:pt x="22175" y="76000"/>
                  <a:pt x="30519" y="79987"/>
                </a:cubicBezTo>
                <a:lnTo>
                  <a:pt x="305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0" y="3831375"/>
            <a:ext cx="1279875" cy="1312125"/>
          </a:xfrm>
          <a:custGeom>
            <a:avLst/>
            <a:gdLst/>
            <a:ahLst/>
            <a:cxnLst/>
            <a:rect l="l" t="t" r="r" b="b"/>
            <a:pathLst>
              <a:path w="51195" h="52485" extrusionOk="0">
                <a:moveTo>
                  <a:pt x="1" y="1"/>
                </a:moveTo>
                <a:lnTo>
                  <a:pt x="1" y="52485"/>
                </a:lnTo>
                <a:lnTo>
                  <a:pt x="51161" y="52485"/>
                </a:lnTo>
                <a:cubicBezTo>
                  <a:pt x="51194" y="49737"/>
                  <a:pt x="50843" y="48020"/>
                  <a:pt x="50114" y="45372"/>
                </a:cubicBezTo>
                <a:cubicBezTo>
                  <a:pt x="49385" y="42717"/>
                  <a:pt x="48070" y="39935"/>
                  <a:pt x="45548" y="38846"/>
                </a:cubicBezTo>
                <a:cubicBezTo>
                  <a:pt x="44350" y="38329"/>
                  <a:pt x="43039" y="38263"/>
                  <a:pt x="41721" y="38263"/>
                </a:cubicBezTo>
                <a:cubicBezTo>
                  <a:pt x="41276" y="38263"/>
                  <a:pt x="40830" y="38271"/>
                  <a:pt x="40387" y="38271"/>
                </a:cubicBezTo>
                <a:cubicBezTo>
                  <a:pt x="40253" y="38271"/>
                  <a:pt x="40119" y="38270"/>
                  <a:pt x="39986" y="38268"/>
                </a:cubicBezTo>
                <a:cubicBezTo>
                  <a:pt x="36417" y="38226"/>
                  <a:pt x="32597" y="37179"/>
                  <a:pt x="30385" y="34381"/>
                </a:cubicBezTo>
                <a:cubicBezTo>
                  <a:pt x="28450" y="31918"/>
                  <a:pt x="28098" y="28609"/>
                  <a:pt x="27193" y="25610"/>
                </a:cubicBezTo>
                <a:cubicBezTo>
                  <a:pt x="26297" y="22611"/>
                  <a:pt x="24286" y="19436"/>
                  <a:pt x="21162" y="19135"/>
                </a:cubicBezTo>
                <a:cubicBezTo>
                  <a:pt x="21005" y="19120"/>
                  <a:pt x="20848" y="19113"/>
                  <a:pt x="20692" y="19113"/>
                </a:cubicBezTo>
                <a:cubicBezTo>
                  <a:pt x="18151" y="19113"/>
                  <a:pt x="15785" y="20948"/>
                  <a:pt x="13216" y="20948"/>
                </a:cubicBezTo>
                <a:cubicBezTo>
                  <a:pt x="13148" y="20948"/>
                  <a:pt x="13079" y="20947"/>
                  <a:pt x="13011" y="20944"/>
                </a:cubicBezTo>
                <a:cubicBezTo>
                  <a:pt x="9551" y="20810"/>
                  <a:pt x="7180" y="17292"/>
                  <a:pt x="6367" y="13924"/>
                </a:cubicBezTo>
                <a:cubicBezTo>
                  <a:pt x="5907" y="12014"/>
                  <a:pt x="5756" y="10062"/>
                  <a:pt x="5446" y="8135"/>
                </a:cubicBezTo>
                <a:cubicBezTo>
                  <a:pt x="5153" y="6275"/>
                  <a:pt x="4583" y="4692"/>
                  <a:pt x="3913" y="2958"/>
                </a:cubicBezTo>
                <a:cubicBezTo>
                  <a:pt x="3653" y="2254"/>
                  <a:pt x="3343" y="1559"/>
                  <a:pt x="2849" y="998"/>
                </a:cubicBezTo>
                <a:cubicBezTo>
                  <a:pt x="2078" y="118"/>
                  <a:pt x="1098" y="26"/>
                  <a:pt x="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4"/>
          <p:cNvSpPr/>
          <p:nvPr/>
        </p:nvSpPr>
        <p:spPr>
          <a:xfrm rot="5400000">
            <a:off x="-12" y="-1"/>
            <a:ext cx="650700" cy="650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4"/>
          <p:cNvSpPr/>
          <p:nvPr/>
        </p:nvSpPr>
        <p:spPr>
          <a:xfrm flipH="1">
            <a:off x="8266450" y="3938825"/>
            <a:ext cx="877550" cy="1204675"/>
          </a:xfrm>
          <a:custGeom>
            <a:avLst/>
            <a:gdLst/>
            <a:ahLst/>
            <a:cxnLst/>
            <a:rect l="l" t="t" r="r" b="b"/>
            <a:pathLst>
              <a:path w="35102" h="48187" extrusionOk="0">
                <a:moveTo>
                  <a:pt x="0" y="0"/>
                </a:moveTo>
                <a:lnTo>
                  <a:pt x="0" y="48187"/>
                </a:lnTo>
                <a:lnTo>
                  <a:pt x="35101" y="48187"/>
                </a:lnTo>
                <a:cubicBezTo>
                  <a:pt x="33769" y="42875"/>
                  <a:pt x="32437" y="38377"/>
                  <a:pt x="31105" y="33066"/>
                </a:cubicBezTo>
                <a:cubicBezTo>
                  <a:pt x="30167" y="29338"/>
                  <a:pt x="29229" y="25593"/>
                  <a:pt x="27788" y="22024"/>
                </a:cubicBezTo>
                <a:cubicBezTo>
                  <a:pt x="26825" y="19645"/>
                  <a:pt x="25652" y="17341"/>
                  <a:pt x="24270" y="15172"/>
                </a:cubicBezTo>
                <a:cubicBezTo>
                  <a:pt x="18866" y="6686"/>
                  <a:pt x="10062" y="3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>
            <a:spLocks noGrp="1"/>
          </p:cNvSpPr>
          <p:nvPr>
            <p:ph type="subTitle" idx="1"/>
          </p:nvPr>
        </p:nvSpPr>
        <p:spPr>
          <a:xfrm>
            <a:off x="720000" y="1092300"/>
            <a:ext cx="7704000" cy="35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803750" y="4575600"/>
            <a:ext cx="5303657" cy="567908"/>
          </a:xfrm>
          <a:custGeom>
            <a:avLst/>
            <a:gdLst/>
            <a:ahLst/>
            <a:cxnLst/>
            <a:rect l="l" t="t" r="r" b="b"/>
            <a:pathLst>
              <a:path w="151739" h="16248" extrusionOk="0">
                <a:moveTo>
                  <a:pt x="66082" y="0"/>
                </a:moveTo>
                <a:cubicBezTo>
                  <a:pt x="63985" y="0"/>
                  <a:pt x="61893" y="194"/>
                  <a:pt x="59823" y="624"/>
                </a:cubicBezTo>
                <a:cubicBezTo>
                  <a:pt x="54637" y="1696"/>
                  <a:pt x="49820" y="4218"/>
                  <a:pt x="44601" y="5139"/>
                </a:cubicBezTo>
                <a:cubicBezTo>
                  <a:pt x="42533" y="5503"/>
                  <a:pt x="40444" y="5608"/>
                  <a:pt x="38346" y="5608"/>
                </a:cubicBezTo>
                <a:cubicBezTo>
                  <a:pt x="35446" y="5608"/>
                  <a:pt x="32529" y="5407"/>
                  <a:pt x="29622" y="5407"/>
                </a:cubicBezTo>
                <a:cubicBezTo>
                  <a:pt x="28906" y="5407"/>
                  <a:pt x="28192" y="5419"/>
                  <a:pt x="27478" y="5449"/>
                </a:cubicBezTo>
                <a:cubicBezTo>
                  <a:pt x="17149" y="5885"/>
                  <a:pt x="7322" y="8842"/>
                  <a:pt x="0" y="16130"/>
                </a:cubicBezTo>
                <a:lnTo>
                  <a:pt x="151739" y="16248"/>
                </a:lnTo>
                <a:cubicBezTo>
                  <a:pt x="142318" y="10900"/>
                  <a:pt x="132333" y="5397"/>
                  <a:pt x="121516" y="5397"/>
                </a:cubicBezTo>
                <a:cubicBezTo>
                  <a:pt x="121387" y="5397"/>
                  <a:pt x="121258" y="5397"/>
                  <a:pt x="121128" y="5399"/>
                </a:cubicBezTo>
                <a:cubicBezTo>
                  <a:pt x="113996" y="5485"/>
                  <a:pt x="106950" y="8016"/>
                  <a:pt x="99890" y="8016"/>
                </a:cubicBezTo>
                <a:cubicBezTo>
                  <a:pt x="98665" y="8016"/>
                  <a:pt x="97440" y="7940"/>
                  <a:pt x="96214" y="7761"/>
                </a:cubicBezTo>
                <a:cubicBezTo>
                  <a:pt x="91958" y="7142"/>
                  <a:pt x="87987" y="5324"/>
                  <a:pt x="83966" y="3791"/>
                </a:cubicBezTo>
                <a:cubicBezTo>
                  <a:pt x="78251" y="1618"/>
                  <a:pt x="72148" y="0"/>
                  <a:pt x="660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4082725" y="4359975"/>
            <a:ext cx="650700" cy="65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/>
          <p:nvPr/>
        </p:nvSpPr>
        <p:spPr>
          <a:xfrm rot="-5400000" flipH="1">
            <a:off x="1184963" y="-1184975"/>
            <a:ext cx="457425" cy="2827350"/>
          </a:xfrm>
          <a:custGeom>
            <a:avLst/>
            <a:gdLst/>
            <a:ahLst/>
            <a:cxnLst/>
            <a:rect l="l" t="t" r="r" b="b"/>
            <a:pathLst>
              <a:path w="18297" h="113094" extrusionOk="0">
                <a:moveTo>
                  <a:pt x="0" y="0"/>
                </a:moveTo>
                <a:lnTo>
                  <a:pt x="0" y="113094"/>
                </a:lnTo>
                <a:cubicBezTo>
                  <a:pt x="201" y="109927"/>
                  <a:pt x="1224" y="108528"/>
                  <a:pt x="3444" y="106250"/>
                </a:cubicBezTo>
                <a:cubicBezTo>
                  <a:pt x="5672" y="103971"/>
                  <a:pt x="8344" y="101952"/>
                  <a:pt x="9584" y="99020"/>
                </a:cubicBezTo>
                <a:cubicBezTo>
                  <a:pt x="11075" y="95485"/>
                  <a:pt x="10137" y="91414"/>
                  <a:pt x="8822" y="87803"/>
                </a:cubicBezTo>
                <a:cubicBezTo>
                  <a:pt x="7507" y="84192"/>
                  <a:pt x="5806" y="80598"/>
                  <a:pt x="5798" y="76762"/>
                </a:cubicBezTo>
                <a:cubicBezTo>
                  <a:pt x="5781" y="66927"/>
                  <a:pt x="16537" y="59982"/>
                  <a:pt x="17735" y="50214"/>
                </a:cubicBezTo>
                <a:cubicBezTo>
                  <a:pt x="18296" y="45673"/>
                  <a:pt x="16663" y="41116"/>
                  <a:pt x="14418" y="37129"/>
                </a:cubicBezTo>
                <a:cubicBezTo>
                  <a:pt x="12173" y="33133"/>
                  <a:pt x="9308" y="29522"/>
                  <a:pt x="7063" y="25526"/>
                </a:cubicBezTo>
                <a:cubicBezTo>
                  <a:pt x="5873" y="23415"/>
                  <a:pt x="4843" y="21120"/>
                  <a:pt x="4809" y="18690"/>
                </a:cubicBezTo>
                <a:cubicBezTo>
                  <a:pt x="4759" y="14946"/>
                  <a:pt x="7063" y="11595"/>
                  <a:pt x="7808" y="7917"/>
                </a:cubicBezTo>
                <a:cubicBezTo>
                  <a:pt x="8294" y="5546"/>
                  <a:pt x="7741" y="2279"/>
                  <a:pt x="69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8381000" y="0"/>
            <a:ext cx="763000" cy="1999700"/>
          </a:xfrm>
          <a:custGeom>
            <a:avLst/>
            <a:gdLst/>
            <a:ahLst/>
            <a:cxnLst/>
            <a:rect l="l" t="t" r="r" b="b"/>
            <a:pathLst>
              <a:path w="30520" h="79988" extrusionOk="0">
                <a:moveTo>
                  <a:pt x="1" y="1"/>
                </a:moveTo>
                <a:cubicBezTo>
                  <a:pt x="4240" y="738"/>
                  <a:pt x="9082" y="2237"/>
                  <a:pt x="12675" y="4608"/>
                </a:cubicBezTo>
                <a:cubicBezTo>
                  <a:pt x="16269" y="6979"/>
                  <a:pt x="18883" y="11394"/>
                  <a:pt x="17811" y="15557"/>
                </a:cubicBezTo>
                <a:cubicBezTo>
                  <a:pt x="16755" y="19712"/>
                  <a:pt x="12424" y="22619"/>
                  <a:pt x="11972" y="26883"/>
                </a:cubicBezTo>
                <a:cubicBezTo>
                  <a:pt x="11201" y="34188"/>
                  <a:pt x="21673" y="37858"/>
                  <a:pt x="23340" y="45004"/>
                </a:cubicBezTo>
                <a:cubicBezTo>
                  <a:pt x="24194" y="48681"/>
                  <a:pt x="22519" y="52401"/>
                  <a:pt x="21555" y="56045"/>
                </a:cubicBezTo>
                <a:cubicBezTo>
                  <a:pt x="19201" y="64983"/>
                  <a:pt x="22175" y="76000"/>
                  <a:pt x="30519" y="79987"/>
                </a:cubicBezTo>
                <a:lnTo>
                  <a:pt x="305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5"/>
          <p:cNvSpPr/>
          <p:nvPr/>
        </p:nvSpPr>
        <p:spPr>
          <a:xfrm rot="5400000">
            <a:off x="0" y="4038951"/>
            <a:ext cx="1130100" cy="113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subTitle" idx="1"/>
          </p:nvPr>
        </p:nvSpPr>
        <p:spPr>
          <a:xfrm>
            <a:off x="937625" y="2777878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subTitle" idx="2"/>
          </p:nvPr>
        </p:nvSpPr>
        <p:spPr>
          <a:xfrm>
            <a:off x="3484347" y="2777878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subTitle" idx="3"/>
          </p:nvPr>
        </p:nvSpPr>
        <p:spPr>
          <a:xfrm>
            <a:off x="6031075" y="2777878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subTitle" idx="4"/>
          </p:nvPr>
        </p:nvSpPr>
        <p:spPr>
          <a:xfrm>
            <a:off x="937625" y="2079748"/>
            <a:ext cx="2175300" cy="7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subTitle" idx="5"/>
          </p:nvPr>
        </p:nvSpPr>
        <p:spPr>
          <a:xfrm>
            <a:off x="3484350" y="2079748"/>
            <a:ext cx="2175300" cy="7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subTitle" idx="6"/>
          </p:nvPr>
        </p:nvSpPr>
        <p:spPr>
          <a:xfrm>
            <a:off x="6031075" y="2079748"/>
            <a:ext cx="2175300" cy="7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20000" y="2141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/>
          <p:cNvSpPr/>
          <p:nvPr/>
        </p:nvSpPr>
        <p:spPr>
          <a:xfrm flipH="1">
            <a:off x="62525" y="2141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8103075" y="-1182200"/>
            <a:ext cx="1721700" cy="172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0" y="3938825"/>
            <a:ext cx="877550" cy="1204675"/>
          </a:xfrm>
          <a:custGeom>
            <a:avLst/>
            <a:gdLst/>
            <a:ahLst/>
            <a:cxnLst/>
            <a:rect l="l" t="t" r="r" b="b"/>
            <a:pathLst>
              <a:path w="35102" h="48187" extrusionOk="0">
                <a:moveTo>
                  <a:pt x="0" y="0"/>
                </a:moveTo>
                <a:lnTo>
                  <a:pt x="0" y="48187"/>
                </a:lnTo>
                <a:lnTo>
                  <a:pt x="35101" y="48187"/>
                </a:lnTo>
                <a:cubicBezTo>
                  <a:pt x="33769" y="42875"/>
                  <a:pt x="32437" y="38377"/>
                  <a:pt x="31105" y="33066"/>
                </a:cubicBezTo>
                <a:cubicBezTo>
                  <a:pt x="30167" y="29338"/>
                  <a:pt x="29229" y="25593"/>
                  <a:pt x="27788" y="22024"/>
                </a:cubicBezTo>
                <a:cubicBezTo>
                  <a:pt x="26825" y="19645"/>
                  <a:pt x="25652" y="17341"/>
                  <a:pt x="24270" y="15172"/>
                </a:cubicBezTo>
                <a:cubicBezTo>
                  <a:pt x="18866" y="6686"/>
                  <a:pt x="10062" y="34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/>
          <p:cNvSpPr/>
          <p:nvPr/>
        </p:nvSpPr>
        <p:spPr>
          <a:xfrm flipH="1">
            <a:off x="8024925" y="3991200"/>
            <a:ext cx="1279875" cy="1312125"/>
          </a:xfrm>
          <a:custGeom>
            <a:avLst/>
            <a:gdLst/>
            <a:ahLst/>
            <a:cxnLst/>
            <a:rect l="l" t="t" r="r" b="b"/>
            <a:pathLst>
              <a:path w="51195" h="52485" extrusionOk="0">
                <a:moveTo>
                  <a:pt x="1" y="1"/>
                </a:moveTo>
                <a:lnTo>
                  <a:pt x="1" y="52485"/>
                </a:lnTo>
                <a:lnTo>
                  <a:pt x="51161" y="52485"/>
                </a:lnTo>
                <a:cubicBezTo>
                  <a:pt x="51194" y="49737"/>
                  <a:pt x="50843" y="48020"/>
                  <a:pt x="50114" y="45372"/>
                </a:cubicBezTo>
                <a:cubicBezTo>
                  <a:pt x="49385" y="42717"/>
                  <a:pt x="48070" y="39935"/>
                  <a:pt x="45548" y="38846"/>
                </a:cubicBezTo>
                <a:cubicBezTo>
                  <a:pt x="44350" y="38329"/>
                  <a:pt x="43039" y="38263"/>
                  <a:pt x="41721" y="38263"/>
                </a:cubicBezTo>
                <a:cubicBezTo>
                  <a:pt x="41276" y="38263"/>
                  <a:pt x="40830" y="38271"/>
                  <a:pt x="40387" y="38271"/>
                </a:cubicBezTo>
                <a:cubicBezTo>
                  <a:pt x="40253" y="38271"/>
                  <a:pt x="40119" y="38270"/>
                  <a:pt x="39986" y="38268"/>
                </a:cubicBezTo>
                <a:cubicBezTo>
                  <a:pt x="36417" y="38226"/>
                  <a:pt x="32597" y="37179"/>
                  <a:pt x="30385" y="34381"/>
                </a:cubicBezTo>
                <a:cubicBezTo>
                  <a:pt x="28450" y="31918"/>
                  <a:pt x="28098" y="28609"/>
                  <a:pt x="27193" y="25610"/>
                </a:cubicBezTo>
                <a:cubicBezTo>
                  <a:pt x="26297" y="22611"/>
                  <a:pt x="24286" y="19436"/>
                  <a:pt x="21162" y="19135"/>
                </a:cubicBezTo>
                <a:cubicBezTo>
                  <a:pt x="21005" y="19120"/>
                  <a:pt x="20848" y="19113"/>
                  <a:pt x="20692" y="19113"/>
                </a:cubicBezTo>
                <a:cubicBezTo>
                  <a:pt x="18151" y="19113"/>
                  <a:pt x="15785" y="20948"/>
                  <a:pt x="13216" y="20948"/>
                </a:cubicBezTo>
                <a:cubicBezTo>
                  <a:pt x="13148" y="20948"/>
                  <a:pt x="13079" y="20947"/>
                  <a:pt x="13011" y="20944"/>
                </a:cubicBezTo>
                <a:cubicBezTo>
                  <a:pt x="9551" y="20810"/>
                  <a:pt x="7180" y="17292"/>
                  <a:pt x="6367" y="13924"/>
                </a:cubicBezTo>
                <a:cubicBezTo>
                  <a:pt x="5907" y="12014"/>
                  <a:pt x="5756" y="10062"/>
                  <a:pt x="5446" y="8135"/>
                </a:cubicBezTo>
                <a:cubicBezTo>
                  <a:pt x="5153" y="6275"/>
                  <a:pt x="4583" y="4692"/>
                  <a:pt x="3913" y="2958"/>
                </a:cubicBezTo>
                <a:cubicBezTo>
                  <a:pt x="3653" y="2254"/>
                  <a:pt x="3343" y="1559"/>
                  <a:pt x="2849" y="998"/>
                </a:cubicBezTo>
                <a:cubicBezTo>
                  <a:pt x="2078" y="118"/>
                  <a:pt x="1098" y="26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subTitle" idx="1"/>
          </p:nvPr>
        </p:nvSpPr>
        <p:spPr>
          <a:xfrm>
            <a:off x="1583938" y="2051550"/>
            <a:ext cx="2811000" cy="100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subTitle" idx="2"/>
          </p:nvPr>
        </p:nvSpPr>
        <p:spPr>
          <a:xfrm>
            <a:off x="5410489" y="2051550"/>
            <a:ext cx="2811000" cy="100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subTitle" idx="3"/>
          </p:nvPr>
        </p:nvSpPr>
        <p:spPr>
          <a:xfrm>
            <a:off x="1583938" y="3603800"/>
            <a:ext cx="2811000" cy="100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subTitle" idx="4"/>
          </p:nvPr>
        </p:nvSpPr>
        <p:spPr>
          <a:xfrm>
            <a:off x="5410489" y="3603800"/>
            <a:ext cx="2811000" cy="100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7"/>
          <p:cNvSpPr txBox="1">
            <a:spLocks noGrp="1"/>
          </p:cNvSpPr>
          <p:nvPr>
            <p:ph type="subTitle" idx="5"/>
          </p:nvPr>
        </p:nvSpPr>
        <p:spPr>
          <a:xfrm>
            <a:off x="1583938" y="1361350"/>
            <a:ext cx="2811000" cy="69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ubTitle" idx="6"/>
          </p:nvPr>
        </p:nvSpPr>
        <p:spPr>
          <a:xfrm>
            <a:off x="1583938" y="2913625"/>
            <a:ext cx="2811000" cy="69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7"/>
          </p:nvPr>
        </p:nvSpPr>
        <p:spPr>
          <a:xfrm>
            <a:off x="5410463" y="1361350"/>
            <a:ext cx="2811000" cy="69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8"/>
          </p:nvPr>
        </p:nvSpPr>
        <p:spPr>
          <a:xfrm>
            <a:off x="5410463" y="2913625"/>
            <a:ext cx="2811000" cy="69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7" name="Google Shape;157;p17"/>
          <p:cNvSpPr/>
          <p:nvPr/>
        </p:nvSpPr>
        <p:spPr>
          <a:xfrm rot="5400000" flipH="1">
            <a:off x="0" y="-7101"/>
            <a:ext cx="650700" cy="650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7"/>
          <p:cNvSpPr/>
          <p:nvPr/>
        </p:nvSpPr>
        <p:spPr>
          <a:xfrm flipH="1">
            <a:off x="8384850" y="4365675"/>
            <a:ext cx="650700" cy="650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/>
          <p:nvPr/>
        </p:nvSpPr>
        <p:spPr>
          <a:xfrm rot="5400000">
            <a:off x="8091750" y="46897"/>
            <a:ext cx="1106250" cy="998250"/>
          </a:xfrm>
          <a:custGeom>
            <a:avLst/>
            <a:gdLst/>
            <a:ahLst/>
            <a:cxnLst/>
            <a:rect l="l" t="t" r="r" b="b"/>
            <a:pathLst>
              <a:path w="44250" h="39930" extrusionOk="0">
                <a:moveTo>
                  <a:pt x="42942" y="1"/>
                </a:moveTo>
                <a:lnTo>
                  <a:pt x="0" y="110"/>
                </a:lnTo>
                <a:lnTo>
                  <a:pt x="0" y="37564"/>
                </a:lnTo>
                <a:cubicBezTo>
                  <a:pt x="1791" y="39195"/>
                  <a:pt x="3693" y="39930"/>
                  <a:pt x="5569" y="39930"/>
                </a:cubicBezTo>
                <a:cubicBezTo>
                  <a:pt x="8607" y="39930"/>
                  <a:pt x="11573" y="38001"/>
                  <a:pt x="13873" y="34825"/>
                </a:cubicBezTo>
                <a:cubicBezTo>
                  <a:pt x="16445" y="31290"/>
                  <a:pt x="16747" y="26666"/>
                  <a:pt x="17501" y="22360"/>
                </a:cubicBezTo>
                <a:cubicBezTo>
                  <a:pt x="18263" y="18062"/>
                  <a:pt x="19972" y="13371"/>
                  <a:pt x="23926" y="11528"/>
                </a:cubicBezTo>
                <a:cubicBezTo>
                  <a:pt x="25627" y="10734"/>
                  <a:pt x="27479" y="10587"/>
                  <a:pt x="29370" y="10587"/>
                </a:cubicBezTo>
                <a:cubicBezTo>
                  <a:pt x="30477" y="10587"/>
                  <a:pt x="31598" y="10637"/>
                  <a:pt x="32709" y="10637"/>
                </a:cubicBezTo>
                <a:cubicBezTo>
                  <a:pt x="33363" y="10637"/>
                  <a:pt x="34014" y="10620"/>
                  <a:pt x="34657" y="10564"/>
                </a:cubicBezTo>
                <a:cubicBezTo>
                  <a:pt x="37313" y="10338"/>
                  <a:pt x="40002" y="9366"/>
                  <a:pt x="41795" y="7389"/>
                </a:cubicBezTo>
                <a:cubicBezTo>
                  <a:pt x="43579" y="5421"/>
                  <a:pt x="44249" y="2321"/>
                  <a:pt x="4294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120200" y="4365675"/>
            <a:ext cx="650700" cy="65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276950" y="445025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 rot="-5400000">
            <a:off x="8493296" y="-9"/>
            <a:ext cx="650700" cy="650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8"/>
          <p:cNvSpPr/>
          <p:nvPr/>
        </p:nvSpPr>
        <p:spPr>
          <a:xfrm rot="10800000">
            <a:off x="7842600" y="31525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8"/>
          <p:cNvSpPr/>
          <p:nvPr/>
        </p:nvSpPr>
        <p:spPr>
          <a:xfrm rot="-5400000" flipH="1">
            <a:off x="618350" y="3762150"/>
            <a:ext cx="763000" cy="1999700"/>
          </a:xfrm>
          <a:custGeom>
            <a:avLst/>
            <a:gdLst/>
            <a:ahLst/>
            <a:cxnLst/>
            <a:rect l="l" t="t" r="r" b="b"/>
            <a:pathLst>
              <a:path w="30520" h="79988" extrusionOk="0">
                <a:moveTo>
                  <a:pt x="1" y="1"/>
                </a:moveTo>
                <a:cubicBezTo>
                  <a:pt x="4240" y="738"/>
                  <a:pt x="9082" y="2237"/>
                  <a:pt x="12675" y="4608"/>
                </a:cubicBezTo>
                <a:cubicBezTo>
                  <a:pt x="16269" y="6979"/>
                  <a:pt x="18883" y="11394"/>
                  <a:pt x="17811" y="15557"/>
                </a:cubicBezTo>
                <a:cubicBezTo>
                  <a:pt x="16755" y="19712"/>
                  <a:pt x="12424" y="22619"/>
                  <a:pt x="11972" y="26883"/>
                </a:cubicBezTo>
                <a:cubicBezTo>
                  <a:pt x="11201" y="34188"/>
                  <a:pt x="21673" y="37858"/>
                  <a:pt x="23340" y="45004"/>
                </a:cubicBezTo>
                <a:cubicBezTo>
                  <a:pt x="24194" y="48681"/>
                  <a:pt x="22519" y="52401"/>
                  <a:pt x="21555" y="56045"/>
                </a:cubicBezTo>
                <a:cubicBezTo>
                  <a:pt x="19201" y="64983"/>
                  <a:pt x="22175" y="76000"/>
                  <a:pt x="30519" y="79987"/>
                </a:cubicBezTo>
                <a:lnTo>
                  <a:pt x="305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0" y="0"/>
            <a:ext cx="1106250" cy="998250"/>
          </a:xfrm>
          <a:custGeom>
            <a:avLst/>
            <a:gdLst/>
            <a:ahLst/>
            <a:cxnLst/>
            <a:rect l="l" t="t" r="r" b="b"/>
            <a:pathLst>
              <a:path w="44250" h="39930" extrusionOk="0">
                <a:moveTo>
                  <a:pt x="42942" y="1"/>
                </a:moveTo>
                <a:lnTo>
                  <a:pt x="0" y="110"/>
                </a:lnTo>
                <a:lnTo>
                  <a:pt x="0" y="37564"/>
                </a:lnTo>
                <a:cubicBezTo>
                  <a:pt x="1791" y="39195"/>
                  <a:pt x="3693" y="39930"/>
                  <a:pt x="5569" y="39930"/>
                </a:cubicBezTo>
                <a:cubicBezTo>
                  <a:pt x="8607" y="39930"/>
                  <a:pt x="11573" y="38001"/>
                  <a:pt x="13873" y="34825"/>
                </a:cubicBezTo>
                <a:cubicBezTo>
                  <a:pt x="16445" y="31290"/>
                  <a:pt x="16747" y="26666"/>
                  <a:pt x="17501" y="22360"/>
                </a:cubicBezTo>
                <a:cubicBezTo>
                  <a:pt x="18263" y="18062"/>
                  <a:pt x="19972" y="13371"/>
                  <a:pt x="23926" y="11528"/>
                </a:cubicBezTo>
                <a:cubicBezTo>
                  <a:pt x="25627" y="10734"/>
                  <a:pt x="27479" y="10587"/>
                  <a:pt x="29370" y="10587"/>
                </a:cubicBezTo>
                <a:cubicBezTo>
                  <a:pt x="30477" y="10587"/>
                  <a:pt x="31598" y="10637"/>
                  <a:pt x="32709" y="10637"/>
                </a:cubicBezTo>
                <a:cubicBezTo>
                  <a:pt x="33363" y="10637"/>
                  <a:pt x="34014" y="10620"/>
                  <a:pt x="34657" y="10564"/>
                </a:cubicBezTo>
                <a:cubicBezTo>
                  <a:pt x="37313" y="10338"/>
                  <a:pt x="40002" y="9366"/>
                  <a:pt x="41795" y="7389"/>
                </a:cubicBezTo>
                <a:cubicBezTo>
                  <a:pt x="43579" y="5421"/>
                  <a:pt x="44249" y="2321"/>
                  <a:pt x="4294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8"/>
          <p:cNvSpPr/>
          <p:nvPr/>
        </p:nvSpPr>
        <p:spPr>
          <a:xfrm flipH="1">
            <a:off x="8266450" y="3938825"/>
            <a:ext cx="877550" cy="1204675"/>
          </a:xfrm>
          <a:custGeom>
            <a:avLst/>
            <a:gdLst/>
            <a:ahLst/>
            <a:cxnLst/>
            <a:rect l="l" t="t" r="r" b="b"/>
            <a:pathLst>
              <a:path w="35102" h="48187" extrusionOk="0">
                <a:moveTo>
                  <a:pt x="0" y="0"/>
                </a:moveTo>
                <a:lnTo>
                  <a:pt x="0" y="48187"/>
                </a:lnTo>
                <a:lnTo>
                  <a:pt x="35101" y="48187"/>
                </a:lnTo>
                <a:cubicBezTo>
                  <a:pt x="33769" y="42875"/>
                  <a:pt x="32437" y="38377"/>
                  <a:pt x="31105" y="33066"/>
                </a:cubicBezTo>
                <a:cubicBezTo>
                  <a:pt x="30167" y="29338"/>
                  <a:pt x="29229" y="25593"/>
                  <a:pt x="27788" y="22024"/>
                </a:cubicBezTo>
                <a:cubicBezTo>
                  <a:pt x="26825" y="19645"/>
                  <a:pt x="25652" y="17341"/>
                  <a:pt x="24270" y="15172"/>
                </a:cubicBezTo>
                <a:cubicBezTo>
                  <a:pt x="18866" y="6686"/>
                  <a:pt x="10062" y="34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1"/>
          </p:nvPr>
        </p:nvSpPr>
        <p:spPr>
          <a:xfrm>
            <a:off x="723900" y="1710150"/>
            <a:ext cx="2096700" cy="10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subTitle" idx="2"/>
          </p:nvPr>
        </p:nvSpPr>
        <p:spPr>
          <a:xfrm>
            <a:off x="3579000" y="1710153"/>
            <a:ext cx="2096700" cy="10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subTitle" idx="3"/>
          </p:nvPr>
        </p:nvSpPr>
        <p:spPr>
          <a:xfrm>
            <a:off x="723900" y="3498801"/>
            <a:ext cx="2096700" cy="10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4"/>
          </p:nvPr>
        </p:nvSpPr>
        <p:spPr>
          <a:xfrm>
            <a:off x="3579000" y="3498800"/>
            <a:ext cx="2096700" cy="10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subTitle" idx="5"/>
          </p:nvPr>
        </p:nvSpPr>
        <p:spPr>
          <a:xfrm>
            <a:off x="6334075" y="1710159"/>
            <a:ext cx="2096700" cy="10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6"/>
          </p:nvPr>
        </p:nvSpPr>
        <p:spPr>
          <a:xfrm>
            <a:off x="6334075" y="3498801"/>
            <a:ext cx="2096700" cy="10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8"/>
          <p:cNvSpPr txBox="1">
            <a:spLocks noGrp="1"/>
          </p:cNvSpPr>
          <p:nvPr>
            <p:ph type="subTitle" idx="7"/>
          </p:nvPr>
        </p:nvSpPr>
        <p:spPr>
          <a:xfrm>
            <a:off x="723900" y="1060275"/>
            <a:ext cx="2096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subTitle" idx="8"/>
          </p:nvPr>
        </p:nvSpPr>
        <p:spPr>
          <a:xfrm>
            <a:off x="3579000" y="1060275"/>
            <a:ext cx="2096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9"/>
          </p:nvPr>
        </p:nvSpPr>
        <p:spPr>
          <a:xfrm>
            <a:off x="6334075" y="1060275"/>
            <a:ext cx="2096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13"/>
          </p:nvPr>
        </p:nvSpPr>
        <p:spPr>
          <a:xfrm>
            <a:off x="723900" y="2845800"/>
            <a:ext cx="2096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14"/>
          </p:nvPr>
        </p:nvSpPr>
        <p:spPr>
          <a:xfrm>
            <a:off x="3579000" y="2845801"/>
            <a:ext cx="2096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15"/>
          </p:nvPr>
        </p:nvSpPr>
        <p:spPr>
          <a:xfrm>
            <a:off x="6334075" y="2845800"/>
            <a:ext cx="20967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>
            <a:spLocks noGrp="1"/>
          </p:cNvSpPr>
          <p:nvPr>
            <p:ph type="title" hasCustomPrompt="1"/>
          </p:nvPr>
        </p:nvSpPr>
        <p:spPr>
          <a:xfrm>
            <a:off x="798375" y="2758213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3" name="Google Shape;183;p19"/>
          <p:cNvSpPr txBox="1">
            <a:spLocks noGrp="1"/>
          </p:cNvSpPr>
          <p:nvPr>
            <p:ph type="subTitle" idx="1"/>
          </p:nvPr>
        </p:nvSpPr>
        <p:spPr>
          <a:xfrm>
            <a:off x="798375" y="3497454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title" idx="2" hasCustomPrompt="1"/>
          </p:nvPr>
        </p:nvSpPr>
        <p:spPr>
          <a:xfrm>
            <a:off x="2825688" y="1047227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5" name="Google Shape;185;p19"/>
          <p:cNvSpPr txBox="1">
            <a:spLocks noGrp="1"/>
          </p:cNvSpPr>
          <p:nvPr>
            <p:ph type="subTitle" idx="3"/>
          </p:nvPr>
        </p:nvSpPr>
        <p:spPr>
          <a:xfrm>
            <a:off x="2825688" y="1783031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title" idx="4" hasCustomPrompt="1"/>
          </p:nvPr>
        </p:nvSpPr>
        <p:spPr>
          <a:xfrm>
            <a:off x="4853000" y="2758213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 b="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5"/>
          </p:nvPr>
        </p:nvSpPr>
        <p:spPr>
          <a:xfrm>
            <a:off x="4853000" y="3497454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488200" y="4396900"/>
            <a:ext cx="650700" cy="650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71575" y="439690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-12" y="-219125"/>
            <a:ext cx="2302960" cy="1663208"/>
          </a:xfrm>
          <a:custGeom>
            <a:avLst/>
            <a:gdLst/>
            <a:ahLst/>
            <a:cxnLst/>
            <a:rect l="l" t="t" r="r" b="b"/>
            <a:pathLst>
              <a:path w="59263" h="42800" extrusionOk="0">
                <a:moveTo>
                  <a:pt x="43" y="0"/>
                </a:moveTo>
                <a:cubicBezTo>
                  <a:pt x="43" y="0"/>
                  <a:pt x="1" y="36617"/>
                  <a:pt x="1" y="42800"/>
                </a:cubicBezTo>
                <a:cubicBezTo>
                  <a:pt x="1" y="42523"/>
                  <a:pt x="6904" y="39373"/>
                  <a:pt x="7700" y="38854"/>
                </a:cubicBezTo>
                <a:cubicBezTo>
                  <a:pt x="10598" y="36961"/>
                  <a:pt x="13019" y="34339"/>
                  <a:pt x="14670" y="31298"/>
                </a:cubicBezTo>
                <a:cubicBezTo>
                  <a:pt x="16873" y="27251"/>
                  <a:pt x="18758" y="22912"/>
                  <a:pt x="22201" y="19720"/>
                </a:cubicBezTo>
                <a:cubicBezTo>
                  <a:pt x="27587" y="14719"/>
                  <a:pt x="35420" y="13739"/>
                  <a:pt x="42558" y="11980"/>
                </a:cubicBezTo>
                <a:cubicBezTo>
                  <a:pt x="49695" y="10220"/>
                  <a:pt x="57310" y="7087"/>
                  <a:pt x="592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9"/>
          <p:cNvSpPr/>
          <p:nvPr/>
        </p:nvSpPr>
        <p:spPr>
          <a:xfrm rot="-5400000">
            <a:off x="6844025" y="-1161869"/>
            <a:ext cx="969469" cy="3293218"/>
          </a:xfrm>
          <a:custGeom>
            <a:avLst/>
            <a:gdLst/>
            <a:ahLst/>
            <a:cxnLst/>
            <a:rect l="l" t="t" r="r" b="b"/>
            <a:pathLst>
              <a:path w="27118" h="92118" extrusionOk="0">
                <a:moveTo>
                  <a:pt x="27118" y="1"/>
                </a:moveTo>
                <a:cubicBezTo>
                  <a:pt x="15432" y="6133"/>
                  <a:pt x="6158" y="17736"/>
                  <a:pt x="3075" y="30578"/>
                </a:cubicBezTo>
                <a:cubicBezTo>
                  <a:pt x="1" y="43412"/>
                  <a:pt x="2723" y="57519"/>
                  <a:pt x="10363" y="68293"/>
                </a:cubicBezTo>
                <a:cubicBezTo>
                  <a:pt x="12525" y="71334"/>
                  <a:pt x="15038" y="74106"/>
                  <a:pt x="17358" y="77039"/>
                </a:cubicBezTo>
                <a:cubicBezTo>
                  <a:pt x="21128" y="81780"/>
                  <a:pt x="24462" y="86681"/>
                  <a:pt x="27118" y="92118"/>
                </a:cubicBezTo>
                <a:lnTo>
                  <a:pt x="2711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4510583" y="4396888"/>
            <a:ext cx="4305215" cy="768896"/>
          </a:xfrm>
          <a:custGeom>
            <a:avLst/>
            <a:gdLst/>
            <a:ahLst/>
            <a:cxnLst/>
            <a:rect l="l" t="t" r="r" b="b"/>
            <a:pathLst>
              <a:path w="151739" h="16248" extrusionOk="0">
                <a:moveTo>
                  <a:pt x="66082" y="0"/>
                </a:moveTo>
                <a:cubicBezTo>
                  <a:pt x="63985" y="0"/>
                  <a:pt x="61893" y="194"/>
                  <a:pt x="59823" y="624"/>
                </a:cubicBezTo>
                <a:cubicBezTo>
                  <a:pt x="54637" y="1696"/>
                  <a:pt x="49820" y="4218"/>
                  <a:pt x="44601" y="5139"/>
                </a:cubicBezTo>
                <a:cubicBezTo>
                  <a:pt x="42533" y="5503"/>
                  <a:pt x="40444" y="5608"/>
                  <a:pt x="38346" y="5608"/>
                </a:cubicBezTo>
                <a:cubicBezTo>
                  <a:pt x="35446" y="5608"/>
                  <a:pt x="32529" y="5407"/>
                  <a:pt x="29622" y="5407"/>
                </a:cubicBezTo>
                <a:cubicBezTo>
                  <a:pt x="28906" y="5407"/>
                  <a:pt x="28192" y="5419"/>
                  <a:pt x="27478" y="5449"/>
                </a:cubicBezTo>
                <a:cubicBezTo>
                  <a:pt x="17149" y="5885"/>
                  <a:pt x="7322" y="8842"/>
                  <a:pt x="0" y="16130"/>
                </a:cubicBezTo>
                <a:lnTo>
                  <a:pt x="151739" y="16248"/>
                </a:lnTo>
                <a:cubicBezTo>
                  <a:pt x="142318" y="10900"/>
                  <a:pt x="132333" y="5397"/>
                  <a:pt x="121516" y="5397"/>
                </a:cubicBezTo>
                <a:cubicBezTo>
                  <a:pt x="121387" y="5397"/>
                  <a:pt x="121258" y="5397"/>
                  <a:pt x="121128" y="5399"/>
                </a:cubicBezTo>
                <a:cubicBezTo>
                  <a:pt x="113996" y="5485"/>
                  <a:pt x="106950" y="8016"/>
                  <a:pt x="99890" y="8016"/>
                </a:cubicBezTo>
                <a:cubicBezTo>
                  <a:pt x="98665" y="8016"/>
                  <a:pt x="97440" y="7940"/>
                  <a:pt x="96214" y="7761"/>
                </a:cubicBezTo>
                <a:cubicBezTo>
                  <a:pt x="91958" y="7142"/>
                  <a:pt x="87987" y="5324"/>
                  <a:pt x="83966" y="3791"/>
                </a:cubicBezTo>
                <a:cubicBezTo>
                  <a:pt x="78251" y="1618"/>
                  <a:pt x="72148" y="0"/>
                  <a:pt x="660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7608000" y="175975"/>
            <a:ext cx="1061400" cy="106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9"/>
          <p:cNvSpPr/>
          <p:nvPr/>
        </p:nvSpPr>
        <p:spPr>
          <a:xfrm rot="5400000">
            <a:off x="0" y="885526"/>
            <a:ext cx="1092300" cy="1092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0" y="0"/>
            <a:ext cx="1106250" cy="998250"/>
          </a:xfrm>
          <a:custGeom>
            <a:avLst/>
            <a:gdLst/>
            <a:ahLst/>
            <a:cxnLst/>
            <a:rect l="l" t="t" r="r" b="b"/>
            <a:pathLst>
              <a:path w="44250" h="39930" extrusionOk="0">
                <a:moveTo>
                  <a:pt x="42942" y="1"/>
                </a:moveTo>
                <a:lnTo>
                  <a:pt x="0" y="110"/>
                </a:lnTo>
                <a:lnTo>
                  <a:pt x="0" y="37564"/>
                </a:lnTo>
                <a:cubicBezTo>
                  <a:pt x="1791" y="39195"/>
                  <a:pt x="3693" y="39930"/>
                  <a:pt x="5569" y="39930"/>
                </a:cubicBezTo>
                <a:cubicBezTo>
                  <a:pt x="8607" y="39930"/>
                  <a:pt x="11573" y="38001"/>
                  <a:pt x="13873" y="34825"/>
                </a:cubicBezTo>
                <a:cubicBezTo>
                  <a:pt x="16445" y="31290"/>
                  <a:pt x="16747" y="26666"/>
                  <a:pt x="17501" y="22360"/>
                </a:cubicBezTo>
                <a:cubicBezTo>
                  <a:pt x="18263" y="18062"/>
                  <a:pt x="19972" y="13371"/>
                  <a:pt x="23926" y="11528"/>
                </a:cubicBezTo>
                <a:cubicBezTo>
                  <a:pt x="25627" y="10734"/>
                  <a:pt x="27479" y="10587"/>
                  <a:pt x="29370" y="10587"/>
                </a:cubicBezTo>
                <a:cubicBezTo>
                  <a:pt x="30477" y="10587"/>
                  <a:pt x="31598" y="10637"/>
                  <a:pt x="32709" y="10637"/>
                </a:cubicBezTo>
                <a:cubicBezTo>
                  <a:pt x="33363" y="10637"/>
                  <a:pt x="34014" y="10620"/>
                  <a:pt x="34657" y="10564"/>
                </a:cubicBezTo>
                <a:cubicBezTo>
                  <a:pt x="37313" y="10338"/>
                  <a:pt x="40002" y="9366"/>
                  <a:pt x="41795" y="7389"/>
                </a:cubicBezTo>
                <a:cubicBezTo>
                  <a:pt x="43579" y="5421"/>
                  <a:pt x="44249" y="2321"/>
                  <a:pt x="4294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0"/>
          <p:cNvSpPr/>
          <p:nvPr/>
        </p:nvSpPr>
        <p:spPr>
          <a:xfrm rot="10800000">
            <a:off x="8686575" y="2316150"/>
            <a:ext cx="457425" cy="2827350"/>
          </a:xfrm>
          <a:custGeom>
            <a:avLst/>
            <a:gdLst/>
            <a:ahLst/>
            <a:cxnLst/>
            <a:rect l="l" t="t" r="r" b="b"/>
            <a:pathLst>
              <a:path w="18297" h="113094" extrusionOk="0">
                <a:moveTo>
                  <a:pt x="0" y="0"/>
                </a:moveTo>
                <a:lnTo>
                  <a:pt x="0" y="113094"/>
                </a:lnTo>
                <a:cubicBezTo>
                  <a:pt x="201" y="109927"/>
                  <a:pt x="1224" y="108528"/>
                  <a:pt x="3444" y="106250"/>
                </a:cubicBezTo>
                <a:cubicBezTo>
                  <a:pt x="5672" y="103971"/>
                  <a:pt x="8344" y="101952"/>
                  <a:pt x="9584" y="99020"/>
                </a:cubicBezTo>
                <a:cubicBezTo>
                  <a:pt x="11075" y="95485"/>
                  <a:pt x="10137" y="91414"/>
                  <a:pt x="8822" y="87803"/>
                </a:cubicBezTo>
                <a:cubicBezTo>
                  <a:pt x="7507" y="84192"/>
                  <a:pt x="5806" y="80598"/>
                  <a:pt x="5798" y="76762"/>
                </a:cubicBezTo>
                <a:cubicBezTo>
                  <a:pt x="5781" y="66927"/>
                  <a:pt x="16537" y="59982"/>
                  <a:pt x="17735" y="50214"/>
                </a:cubicBezTo>
                <a:cubicBezTo>
                  <a:pt x="18296" y="45673"/>
                  <a:pt x="16663" y="41116"/>
                  <a:pt x="14418" y="37129"/>
                </a:cubicBezTo>
                <a:cubicBezTo>
                  <a:pt x="12173" y="33133"/>
                  <a:pt x="9308" y="29522"/>
                  <a:pt x="7063" y="25526"/>
                </a:cubicBezTo>
                <a:cubicBezTo>
                  <a:pt x="5873" y="23415"/>
                  <a:pt x="4843" y="21120"/>
                  <a:pt x="4809" y="18690"/>
                </a:cubicBezTo>
                <a:cubicBezTo>
                  <a:pt x="4759" y="14946"/>
                  <a:pt x="7063" y="11595"/>
                  <a:pt x="7808" y="7917"/>
                </a:cubicBezTo>
                <a:cubicBezTo>
                  <a:pt x="8294" y="5546"/>
                  <a:pt x="7741" y="2279"/>
                  <a:pt x="69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0"/>
          <p:cNvSpPr/>
          <p:nvPr/>
        </p:nvSpPr>
        <p:spPr>
          <a:xfrm rot="5400000">
            <a:off x="0" y="4492799"/>
            <a:ext cx="650700" cy="650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8686575" y="2141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8360475" y="2141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978325" y="-608300"/>
            <a:ext cx="1147800" cy="1147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1"/>
          <p:cNvSpPr/>
          <p:nvPr/>
        </p:nvSpPr>
        <p:spPr>
          <a:xfrm rot="-5400000">
            <a:off x="316650" y="-869450"/>
            <a:ext cx="677950" cy="2302950"/>
          </a:xfrm>
          <a:custGeom>
            <a:avLst/>
            <a:gdLst/>
            <a:ahLst/>
            <a:cxnLst/>
            <a:rect l="l" t="t" r="r" b="b"/>
            <a:pathLst>
              <a:path w="27118" h="92118" extrusionOk="0">
                <a:moveTo>
                  <a:pt x="27118" y="1"/>
                </a:moveTo>
                <a:cubicBezTo>
                  <a:pt x="15432" y="6133"/>
                  <a:pt x="6158" y="17736"/>
                  <a:pt x="3075" y="30578"/>
                </a:cubicBezTo>
                <a:cubicBezTo>
                  <a:pt x="1" y="43412"/>
                  <a:pt x="2723" y="57519"/>
                  <a:pt x="10363" y="68293"/>
                </a:cubicBezTo>
                <a:cubicBezTo>
                  <a:pt x="12525" y="71334"/>
                  <a:pt x="15038" y="74106"/>
                  <a:pt x="17358" y="77039"/>
                </a:cubicBezTo>
                <a:cubicBezTo>
                  <a:pt x="21128" y="81780"/>
                  <a:pt x="24462" y="86681"/>
                  <a:pt x="27118" y="92118"/>
                </a:cubicBezTo>
                <a:lnTo>
                  <a:pt x="271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1"/>
          <p:cNvSpPr/>
          <p:nvPr/>
        </p:nvSpPr>
        <p:spPr>
          <a:xfrm rot="10800000">
            <a:off x="-165150" y="4436025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8651700" y="119275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1"/>
          <p:cNvSpPr/>
          <p:nvPr/>
        </p:nvSpPr>
        <p:spPr>
          <a:xfrm rot="-5400000">
            <a:off x="8262175" y="18450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6750075" y="4768700"/>
            <a:ext cx="2685780" cy="406200"/>
          </a:xfrm>
          <a:custGeom>
            <a:avLst/>
            <a:gdLst/>
            <a:ahLst/>
            <a:cxnLst/>
            <a:rect l="l" t="t" r="r" b="b"/>
            <a:pathLst>
              <a:path w="151739" h="16248" extrusionOk="0">
                <a:moveTo>
                  <a:pt x="66082" y="0"/>
                </a:moveTo>
                <a:cubicBezTo>
                  <a:pt x="63985" y="0"/>
                  <a:pt x="61893" y="194"/>
                  <a:pt x="59823" y="624"/>
                </a:cubicBezTo>
                <a:cubicBezTo>
                  <a:pt x="54637" y="1696"/>
                  <a:pt x="49820" y="4218"/>
                  <a:pt x="44601" y="5139"/>
                </a:cubicBezTo>
                <a:cubicBezTo>
                  <a:pt x="42533" y="5503"/>
                  <a:pt x="40444" y="5608"/>
                  <a:pt x="38346" y="5608"/>
                </a:cubicBezTo>
                <a:cubicBezTo>
                  <a:pt x="35446" y="5608"/>
                  <a:pt x="32529" y="5407"/>
                  <a:pt x="29622" y="5407"/>
                </a:cubicBezTo>
                <a:cubicBezTo>
                  <a:pt x="28906" y="5407"/>
                  <a:pt x="28192" y="5419"/>
                  <a:pt x="27478" y="5449"/>
                </a:cubicBezTo>
                <a:cubicBezTo>
                  <a:pt x="17149" y="5885"/>
                  <a:pt x="7322" y="8842"/>
                  <a:pt x="0" y="16130"/>
                </a:cubicBezTo>
                <a:lnTo>
                  <a:pt x="151739" y="16248"/>
                </a:lnTo>
                <a:cubicBezTo>
                  <a:pt x="142318" y="10900"/>
                  <a:pt x="132333" y="5397"/>
                  <a:pt x="121516" y="5397"/>
                </a:cubicBezTo>
                <a:cubicBezTo>
                  <a:pt x="121387" y="5397"/>
                  <a:pt x="121258" y="5397"/>
                  <a:pt x="121128" y="5399"/>
                </a:cubicBezTo>
                <a:cubicBezTo>
                  <a:pt x="113996" y="5485"/>
                  <a:pt x="106950" y="8016"/>
                  <a:pt x="99890" y="8016"/>
                </a:cubicBezTo>
                <a:cubicBezTo>
                  <a:pt x="98665" y="8016"/>
                  <a:pt x="97440" y="7940"/>
                  <a:pt x="96214" y="7761"/>
                </a:cubicBezTo>
                <a:cubicBezTo>
                  <a:pt x="91958" y="7142"/>
                  <a:pt x="87987" y="5324"/>
                  <a:pt x="83966" y="3791"/>
                </a:cubicBezTo>
                <a:cubicBezTo>
                  <a:pt x="78251" y="1618"/>
                  <a:pt x="72148" y="0"/>
                  <a:pt x="660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8493300" y="4492799"/>
            <a:ext cx="650700" cy="650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112525" y="86675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7965494" y="-135919"/>
            <a:ext cx="1348075" cy="1455175"/>
          </a:xfrm>
          <a:custGeom>
            <a:avLst/>
            <a:gdLst/>
            <a:ahLst/>
            <a:cxnLst/>
            <a:rect l="l" t="t" r="r" b="b"/>
            <a:pathLst>
              <a:path w="53923" h="58207" extrusionOk="0">
                <a:moveTo>
                  <a:pt x="378" y="1"/>
                </a:moveTo>
                <a:cubicBezTo>
                  <a:pt x="1" y="2430"/>
                  <a:pt x="1098" y="5245"/>
                  <a:pt x="2992" y="6987"/>
                </a:cubicBezTo>
                <a:cubicBezTo>
                  <a:pt x="5823" y="9593"/>
                  <a:pt x="9744" y="10531"/>
                  <a:pt x="13312" y="11947"/>
                </a:cubicBezTo>
                <a:cubicBezTo>
                  <a:pt x="19621" y="14451"/>
                  <a:pt x="25476" y="19093"/>
                  <a:pt x="27571" y="25551"/>
                </a:cubicBezTo>
                <a:cubicBezTo>
                  <a:pt x="29070" y="30176"/>
                  <a:pt x="28551" y="35386"/>
                  <a:pt x="30729" y="39734"/>
                </a:cubicBezTo>
                <a:cubicBezTo>
                  <a:pt x="33234" y="44744"/>
                  <a:pt x="38712" y="47466"/>
                  <a:pt x="43998" y="49335"/>
                </a:cubicBezTo>
                <a:cubicBezTo>
                  <a:pt x="46244" y="50139"/>
                  <a:pt x="48564" y="50868"/>
                  <a:pt x="50508" y="52250"/>
                </a:cubicBezTo>
                <a:cubicBezTo>
                  <a:pt x="52333" y="53540"/>
                  <a:pt x="53811" y="55555"/>
                  <a:pt x="53915" y="57773"/>
                </a:cubicBezTo>
                <a:lnTo>
                  <a:pt x="53915" y="57773"/>
                </a:lnTo>
                <a:lnTo>
                  <a:pt x="53574" y="1"/>
                </a:lnTo>
                <a:close/>
                <a:moveTo>
                  <a:pt x="53915" y="57773"/>
                </a:moveTo>
                <a:lnTo>
                  <a:pt x="53917" y="58206"/>
                </a:lnTo>
                <a:cubicBezTo>
                  <a:pt x="53922" y="58061"/>
                  <a:pt x="53921" y="57917"/>
                  <a:pt x="53915" y="5777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-161000" y="4038900"/>
            <a:ext cx="1224584" cy="1255441"/>
          </a:xfrm>
          <a:custGeom>
            <a:avLst/>
            <a:gdLst/>
            <a:ahLst/>
            <a:cxnLst/>
            <a:rect l="l" t="t" r="r" b="b"/>
            <a:pathLst>
              <a:path w="51195" h="52485" extrusionOk="0">
                <a:moveTo>
                  <a:pt x="1" y="1"/>
                </a:moveTo>
                <a:lnTo>
                  <a:pt x="1" y="52485"/>
                </a:lnTo>
                <a:lnTo>
                  <a:pt x="51161" y="52485"/>
                </a:lnTo>
                <a:cubicBezTo>
                  <a:pt x="51194" y="49737"/>
                  <a:pt x="50843" y="48020"/>
                  <a:pt x="50114" y="45372"/>
                </a:cubicBezTo>
                <a:cubicBezTo>
                  <a:pt x="49385" y="42717"/>
                  <a:pt x="48070" y="39935"/>
                  <a:pt x="45548" y="38846"/>
                </a:cubicBezTo>
                <a:cubicBezTo>
                  <a:pt x="44350" y="38329"/>
                  <a:pt x="43039" y="38263"/>
                  <a:pt x="41721" y="38263"/>
                </a:cubicBezTo>
                <a:cubicBezTo>
                  <a:pt x="41276" y="38263"/>
                  <a:pt x="40830" y="38271"/>
                  <a:pt x="40387" y="38271"/>
                </a:cubicBezTo>
                <a:cubicBezTo>
                  <a:pt x="40253" y="38271"/>
                  <a:pt x="40119" y="38270"/>
                  <a:pt x="39986" y="38268"/>
                </a:cubicBezTo>
                <a:cubicBezTo>
                  <a:pt x="36417" y="38226"/>
                  <a:pt x="32597" y="37179"/>
                  <a:pt x="30385" y="34381"/>
                </a:cubicBezTo>
                <a:cubicBezTo>
                  <a:pt x="28450" y="31918"/>
                  <a:pt x="28098" y="28609"/>
                  <a:pt x="27193" y="25610"/>
                </a:cubicBezTo>
                <a:cubicBezTo>
                  <a:pt x="26297" y="22611"/>
                  <a:pt x="24286" y="19436"/>
                  <a:pt x="21162" y="19135"/>
                </a:cubicBezTo>
                <a:cubicBezTo>
                  <a:pt x="21005" y="19120"/>
                  <a:pt x="20848" y="19113"/>
                  <a:pt x="20692" y="19113"/>
                </a:cubicBezTo>
                <a:cubicBezTo>
                  <a:pt x="18151" y="19113"/>
                  <a:pt x="15785" y="20948"/>
                  <a:pt x="13216" y="20948"/>
                </a:cubicBezTo>
                <a:cubicBezTo>
                  <a:pt x="13148" y="20948"/>
                  <a:pt x="13079" y="20947"/>
                  <a:pt x="13011" y="20944"/>
                </a:cubicBezTo>
                <a:cubicBezTo>
                  <a:pt x="9551" y="20810"/>
                  <a:pt x="7180" y="17292"/>
                  <a:pt x="6367" y="13924"/>
                </a:cubicBezTo>
                <a:cubicBezTo>
                  <a:pt x="5907" y="12014"/>
                  <a:pt x="5756" y="10062"/>
                  <a:pt x="5446" y="8135"/>
                </a:cubicBezTo>
                <a:cubicBezTo>
                  <a:pt x="5153" y="6275"/>
                  <a:pt x="4583" y="4692"/>
                  <a:pt x="3913" y="2958"/>
                </a:cubicBezTo>
                <a:cubicBezTo>
                  <a:pt x="3653" y="2254"/>
                  <a:pt x="3343" y="1559"/>
                  <a:pt x="2849" y="998"/>
                </a:cubicBezTo>
                <a:cubicBezTo>
                  <a:pt x="2078" y="118"/>
                  <a:pt x="1098" y="26"/>
                  <a:pt x="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"/>
          <p:cNvSpPr/>
          <p:nvPr/>
        </p:nvSpPr>
        <p:spPr>
          <a:xfrm rot="5400000">
            <a:off x="428725" y="86675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8693775" y="43773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0_1_1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3"/>
          <p:cNvSpPr/>
          <p:nvPr/>
        </p:nvSpPr>
        <p:spPr>
          <a:xfrm rot="-5400000">
            <a:off x="-957535" y="1251204"/>
            <a:ext cx="2328231" cy="413161"/>
          </a:xfrm>
          <a:custGeom>
            <a:avLst/>
            <a:gdLst/>
            <a:ahLst/>
            <a:cxnLst/>
            <a:rect l="l" t="t" r="r" b="b"/>
            <a:pathLst>
              <a:path w="123399" h="21898" extrusionOk="0">
                <a:moveTo>
                  <a:pt x="1" y="0"/>
                </a:moveTo>
                <a:cubicBezTo>
                  <a:pt x="7417" y="9259"/>
                  <a:pt x="20028" y="12630"/>
                  <a:pt x="32089" y="12630"/>
                </a:cubicBezTo>
                <a:cubicBezTo>
                  <a:pt x="33572" y="12630"/>
                  <a:pt x="35046" y="12580"/>
                  <a:pt x="36501" y="12482"/>
                </a:cubicBezTo>
                <a:cubicBezTo>
                  <a:pt x="38486" y="12347"/>
                  <a:pt x="40505" y="12152"/>
                  <a:pt x="42499" y="12152"/>
                </a:cubicBezTo>
                <a:cubicBezTo>
                  <a:pt x="44460" y="12152"/>
                  <a:pt x="46397" y="12341"/>
                  <a:pt x="48254" y="12960"/>
                </a:cubicBezTo>
                <a:cubicBezTo>
                  <a:pt x="51195" y="13932"/>
                  <a:pt x="53683" y="15917"/>
                  <a:pt x="56355" y="17492"/>
                </a:cubicBezTo>
                <a:cubicBezTo>
                  <a:pt x="61346" y="20443"/>
                  <a:pt x="67131" y="21898"/>
                  <a:pt x="72922" y="21898"/>
                </a:cubicBezTo>
                <a:cubicBezTo>
                  <a:pt x="79922" y="21898"/>
                  <a:pt x="86932" y="19772"/>
                  <a:pt x="92562" y="15590"/>
                </a:cubicBezTo>
                <a:cubicBezTo>
                  <a:pt x="96566" y="12616"/>
                  <a:pt x="100034" y="8654"/>
                  <a:pt x="104784" y="7121"/>
                </a:cubicBezTo>
                <a:cubicBezTo>
                  <a:pt x="108093" y="6057"/>
                  <a:pt x="111662" y="6308"/>
                  <a:pt x="115105" y="5814"/>
                </a:cubicBezTo>
                <a:cubicBezTo>
                  <a:pt x="118548" y="5320"/>
                  <a:pt x="122092" y="3225"/>
                  <a:pt x="1233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3"/>
          <p:cNvSpPr/>
          <p:nvPr/>
        </p:nvSpPr>
        <p:spPr>
          <a:xfrm flipH="1">
            <a:off x="8266450" y="3938825"/>
            <a:ext cx="877550" cy="1204675"/>
          </a:xfrm>
          <a:custGeom>
            <a:avLst/>
            <a:gdLst/>
            <a:ahLst/>
            <a:cxnLst/>
            <a:rect l="l" t="t" r="r" b="b"/>
            <a:pathLst>
              <a:path w="35102" h="48187" extrusionOk="0">
                <a:moveTo>
                  <a:pt x="0" y="0"/>
                </a:moveTo>
                <a:lnTo>
                  <a:pt x="0" y="48187"/>
                </a:lnTo>
                <a:lnTo>
                  <a:pt x="35101" y="48187"/>
                </a:lnTo>
                <a:cubicBezTo>
                  <a:pt x="33769" y="42875"/>
                  <a:pt x="32437" y="38377"/>
                  <a:pt x="31105" y="33066"/>
                </a:cubicBezTo>
                <a:cubicBezTo>
                  <a:pt x="30167" y="29338"/>
                  <a:pt x="29229" y="25593"/>
                  <a:pt x="27788" y="22024"/>
                </a:cubicBezTo>
                <a:cubicBezTo>
                  <a:pt x="26825" y="19645"/>
                  <a:pt x="25652" y="17341"/>
                  <a:pt x="24270" y="15172"/>
                </a:cubicBezTo>
                <a:cubicBezTo>
                  <a:pt x="18866" y="6686"/>
                  <a:pt x="10062" y="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8628575" y="2141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8216125" y="21415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641475" y="4728525"/>
            <a:ext cx="1252200" cy="125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0_1_1_1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/>
          <p:nvPr/>
        </p:nvSpPr>
        <p:spPr>
          <a:xfrm flipH="1">
            <a:off x="-14620" y="-10820"/>
            <a:ext cx="1348075" cy="1455175"/>
          </a:xfrm>
          <a:custGeom>
            <a:avLst/>
            <a:gdLst/>
            <a:ahLst/>
            <a:cxnLst/>
            <a:rect l="l" t="t" r="r" b="b"/>
            <a:pathLst>
              <a:path w="53923" h="58207" extrusionOk="0">
                <a:moveTo>
                  <a:pt x="378" y="1"/>
                </a:moveTo>
                <a:cubicBezTo>
                  <a:pt x="1" y="2430"/>
                  <a:pt x="1098" y="5245"/>
                  <a:pt x="2992" y="6987"/>
                </a:cubicBezTo>
                <a:cubicBezTo>
                  <a:pt x="5823" y="9593"/>
                  <a:pt x="9744" y="10531"/>
                  <a:pt x="13312" y="11947"/>
                </a:cubicBezTo>
                <a:cubicBezTo>
                  <a:pt x="19621" y="14451"/>
                  <a:pt x="25476" y="19093"/>
                  <a:pt x="27571" y="25551"/>
                </a:cubicBezTo>
                <a:cubicBezTo>
                  <a:pt x="29070" y="30176"/>
                  <a:pt x="28551" y="35386"/>
                  <a:pt x="30729" y="39734"/>
                </a:cubicBezTo>
                <a:cubicBezTo>
                  <a:pt x="33234" y="44744"/>
                  <a:pt x="38712" y="47466"/>
                  <a:pt x="43998" y="49335"/>
                </a:cubicBezTo>
                <a:cubicBezTo>
                  <a:pt x="46244" y="50139"/>
                  <a:pt x="48564" y="50868"/>
                  <a:pt x="50508" y="52250"/>
                </a:cubicBezTo>
                <a:cubicBezTo>
                  <a:pt x="52333" y="53540"/>
                  <a:pt x="53811" y="55555"/>
                  <a:pt x="53915" y="57773"/>
                </a:cubicBezTo>
                <a:lnTo>
                  <a:pt x="53915" y="57773"/>
                </a:lnTo>
                <a:lnTo>
                  <a:pt x="53574" y="1"/>
                </a:lnTo>
                <a:close/>
                <a:moveTo>
                  <a:pt x="53915" y="57773"/>
                </a:moveTo>
                <a:lnTo>
                  <a:pt x="53917" y="58206"/>
                </a:lnTo>
                <a:cubicBezTo>
                  <a:pt x="53922" y="58061"/>
                  <a:pt x="53921" y="57917"/>
                  <a:pt x="53915" y="5777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4"/>
          <p:cNvSpPr/>
          <p:nvPr/>
        </p:nvSpPr>
        <p:spPr>
          <a:xfrm rot="5400000">
            <a:off x="7327775" y="1383775"/>
            <a:ext cx="3084975" cy="547450"/>
          </a:xfrm>
          <a:custGeom>
            <a:avLst/>
            <a:gdLst/>
            <a:ahLst/>
            <a:cxnLst/>
            <a:rect l="l" t="t" r="r" b="b"/>
            <a:pathLst>
              <a:path w="123399" h="21898" extrusionOk="0">
                <a:moveTo>
                  <a:pt x="1" y="0"/>
                </a:moveTo>
                <a:cubicBezTo>
                  <a:pt x="7417" y="9259"/>
                  <a:pt x="20028" y="12630"/>
                  <a:pt x="32089" y="12630"/>
                </a:cubicBezTo>
                <a:cubicBezTo>
                  <a:pt x="33572" y="12630"/>
                  <a:pt x="35046" y="12580"/>
                  <a:pt x="36501" y="12482"/>
                </a:cubicBezTo>
                <a:cubicBezTo>
                  <a:pt x="38486" y="12347"/>
                  <a:pt x="40505" y="12152"/>
                  <a:pt x="42499" y="12152"/>
                </a:cubicBezTo>
                <a:cubicBezTo>
                  <a:pt x="44460" y="12152"/>
                  <a:pt x="46397" y="12341"/>
                  <a:pt x="48254" y="12960"/>
                </a:cubicBezTo>
                <a:cubicBezTo>
                  <a:pt x="51195" y="13932"/>
                  <a:pt x="53683" y="15917"/>
                  <a:pt x="56355" y="17492"/>
                </a:cubicBezTo>
                <a:cubicBezTo>
                  <a:pt x="61346" y="20443"/>
                  <a:pt x="67131" y="21898"/>
                  <a:pt x="72922" y="21898"/>
                </a:cubicBezTo>
                <a:cubicBezTo>
                  <a:pt x="79922" y="21898"/>
                  <a:pt x="86932" y="19772"/>
                  <a:pt x="92562" y="15590"/>
                </a:cubicBezTo>
                <a:cubicBezTo>
                  <a:pt x="96566" y="12616"/>
                  <a:pt x="100034" y="8654"/>
                  <a:pt x="104784" y="7121"/>
                </a:cubicBezTo>
                <a:cubicBezTo>
                  <a:pt x="108093" y="6057"/>
                  <a:pt x="111662" y="6308"/>
                  <a:pt x="115105" y="5814"/>
                </a:cubicBezTo>
                <a:cubicBezTo>
                  <a:pt x="118548" y="5320"/>
                  <a:pt x="122092" y="3225"/>
                  <a:pt x="12339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8350575" y="300650"/>
            <a:ext cx="650700" cy="650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2569675" y="4836275"/>
            <a:ext cx="3793475" cy="406200"/>
          </a:xfrm>
          <a:custGeom>
            <a:avLst/>
            <a:gdLst/>
            <a:ahLst/>
            <a:cxnLst/>
            <a:rect l="l" t="t" r="r" b="b"/>
            <a:pathLst>
              <a:path w="151739" h="16248" extrusionOk="0">
                <a:moveTo>
                  <a:pt x="66082" y="0"/>
                </a:moveTo>
                <a:cubicBezTo>
                  <a:pt x="63985" y="0"/>
                  <a:pt x="61893" y="194"/>
                  <a:pt x="59823" y="624"/>
                </a:cubicBezTo>
                <a:cubicBezTo>
                  <a:pt x="54637" y="1696"/>
                  <a:pt x="49820" y="4218"/>
                  <a:pt x="44601" y="5139"/>
                </a:cubicBezTo>
                <a:cubicBezTo>
                  <a:pt x="42533" y="5503"/>
                  <a:pt x="40444" y="5608"/>
                  <a:pt x="38346" y="5608"/>
                </a:cubicBezTo>
                <a:cubicBezTo>
                  <a:pt x="35446" y="5608"/>
                  <a:pt x="32529" y="5407"/>
                  <a:pt x="29622" y="5407"/>
                </a:cubicBezTo>
                <a:cubicBezTo>
                  <a:pt x="28906" y="5407"/>
                  <a:pt x="28192" y="5419"/>
                  <a:pt x="27478" y="5449"/>
                </a:cubicBezTo>
                <a:cubicBezTo>
                  <a:pt x="17149" y="5885"/>
                  <a:pt x="7322" y="8842"/>
                  <a:pt x="0" y="16130"/>
                </a:cubicBezTo>
                <a:lnTo>
                  <a:pt x="151739" y="16248"/>
                </a:lnTo>
                <a:cubicBezTo>
                  <a:pt x="142318" y="10900"/>
                  <a:pt x="132333" y="5397"/>
                  <a:pt x="121516" y="5397"/>
                </a:cubicBezTo>
                <a:cubicBezTo>
                  <a:pt x="121387" y="5397"/>
                  <a:pt x="121258" y="5397"/>
                  <a:pt x="121128" y="5399"/>
                </a:cubicBezTo>
                <a:cubicBezTo>
                  <a:pt x="113996" y="5485"/>
                  <a:pt x="106950" y="8016"/>
                  <a:pt x="99890" y="8016"/>
                </a:cubicBezTo>
                <a:cubicBezTo>
                  <a:pt x="98665" y="8016"/>
                  <a:pt x="97440" y="7940"/>
                  <a:pt x="96214" y="7761"/>
                </a:cubicBezTo>
                <a:cubicBezTo>
                  <a:pt x="91958" y="7142"/>
                  <a:pt x="87987" y="5324"/>
                  <a:pt x="83966" y="3791"/>
                </a:cubicBezTo>
                <a:cubicBezTo>
                  <a:pt x="78251" y="1618"/>
                  <a:pt x="72148" y="0"/>
                  <a:pt x="6608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249475" y="95135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5"/>
          <p:cNvSpPr txBox="1">
            <a:spLocks noGrp="1"/>
          </p:cNvSpPr>
          <p:nvPr>
            <p:ph type="subTitle" idx="1"/>
          </p:nvPr>
        </p:nvSpPr>
        <p:spPr>
          <a:xfrm>
            <a:off x="2347950" y="15987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2099100" y="373610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lang="en" sz="1200" b="1" u="sng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 u="sng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and includes icons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, and infographics &amp; images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1200" b="1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-2012227" y="4406211"/>
            <a:ext cx="6598370" cy="1130089"/>
          </a:xfrm>
          <a:custGeom>
            <a:avLst/>
            <a:gdLst/>
            <a:ahLst/>
            <a:cxnLst/>
            <a:rect l="l" t="t" r="r" b="b"/>
            <a:pathLst>
              <a:path w="151739" h="16248" extrusionOk="0">
                <a:moveTo>
                  <a:pt x="66082" y="0"/>
                </a:moveTo>
                <a:cubicBezTo>
                  <a:pt x="63985" y="0"/>
                  <a:pt x="61893" y="194"/>
                  <a:pt x="59823" y="624"/>
                </a:cubicBezTo>
                <a:cubicBezTo>
                  <a:pt x="54637" y="1696"/>
                  <a:pt x="49820" y="4218"/>
                  <a:pt x="44601" y="5139"/>
                </a:cubicBezTo>
                <a:cubicBezTo>
                  <a:pt x="42533" y="5503"/>
                  <a:pt x="40444" y="5608"/>
                  <a:pt x="38346" y="5608"/>
                </a:cubicBezTo>
                <a:cubicBezTo>
                  <a:pt x="35446" y="5608"/>
                  <a:pt x="32529" y="5407"/>
                  <a:pt x="29622" y="5407"/>
                </a:cubicBezTo>
                <a:cubicBezTo>
                  <a:pt x="28906" y="5407"/>
                  <a:pt x="28192" y="5419"/>
                  <a:pt x="27478" y="5449"/>
                </a:cubicBezTo>
                <a:cubicBezTo>
                  <a:pt x="17149" y="5885"/>
                  <a:pt x="7322" y="8842"/>
                  <a:pt x="0" y="16130"/>
                </a:cubicBezTo>
                <a:lnTo>
                  <a:pt x="151739" y="16248"/>
                </a:lnTo>
                <a:cubicBezTo>
                  <a:pt x="142318" y="10900"/>
                  <a:pt x="132333" y="5397"/>
                  <a:pt x="121516" y="5397"/>
                </a:cubicBezTo>
                <a:cubicBezTo>
                  <a:pt x="121387" y="5397"/>
                  <a:pt x="121258" y="5397"/>
                  <a:pt x="121128" y="5399"/>
                </a:cubicBezTo>
                <a:cubicBezTo>
                  <a:pt x="113996" y="5485"/>
                  <a:pt x="106950" y="8016"/>
                  <a:pt x="99890" y="8016"/>
                </a:cubicBezTo>
                <a:cubicBezTo>
                  <a:pt x="98665" y="8016"/>
                  <a:pt x="97440" y="7940"/>
                  <a:pt x="96214" y="7761"/>
                </a:cubicBezTo>
                <a:cubicBezTo>
                  <a:pt x="91958" y="7142"/>
                  <a:pt x="87987" y="5324"/>
                  <a:pt x="83966" y="3791"/>
                </a:cubicBezTo>
                <a:cubicBezTo>
                  <a:pt x="78251" y="1618"/>
                  <a:pt x="72148" y="0"/>
                  <a:pt x="6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5159900" y="-38725"/>
            <a:ext cx="4848655" cy="860427"/>
          </a:xfrm>
          <a:custGeom>
            <a:avLst/>
            <a:gdLst/>
            <a:ahLst/>
            <a:cxnLst/>
            <a:rect l="l" t="t" r="r" b="b"/>
            <a:pathLst>
              <a:path w="123399" h="21898" extrusionOk="0">
                <a:moveTo>
                  <a:pt x="1" y="0"/>
                </a:moveTo>
                <a:cubicBezTo>
                  <a:pt x="7417" y="9259"/>
                  <a:pt x="20028" y="12630"/>
                  <a:pt x="32089" y="12630"/>
                </a:cubicBezTo>
                <a:cubicBezTo>
                  <a:pt x="33572" y="12630"/>
                  <a:pt x="35046" y="12580"/>
                  <a:pt x="36501" y="12482"/>
                </a:cubicBezTo>
                <a:cubicBezTo>
                  <a:pt x="38486" y="12347"/>
                  <a:pt x="40505" y="12152"/>
                  <a:pt x="42499" y="12152"/>
                </a:cubicBezTo>
                <a:cubicBezTo>
                  <a:pt x="44460" y="12152"/>
                  <a:pt x="46397" y="12341"/>
                  <a:pt x="48254" y="12960"/>
                </a:cubicBezTo>
                <a:cubicBezTo>
                  <a:pt x="51195" y="13932"/>
                  <a:pt x="53683" y="15917"/>
                  <a:pt x="56355" y="17492"/>
                </a:cubicBezTo>
                <a:cubicBezTo>
                  <a:pt x="61346" y="20443"/>
                  <a:pt x="67131" y="21898"/>
                  <a:pt x="72922" y="21898"/>
                </a:cubicBezTo>
                <a:cubicBezTo>
                  <a:pt x="79922" y="21898"/>
                  <a:pt x="86932" y="19772"/>
                  <a:pt x="92562" y="15590"/>
                </a:cubicBezTo>
                <a:cubicBezTo>
                  <a:pt x="96566" y="12616"/>
                  <a:pt x="100034" y="8654"/>
                  <a:pt x="104784" y="7121"/>
                </a:cubicBezTo>
                <a:cubicBezTo>
                  <a:pt x="108093" y="6057"/>
                  <a:pt x="111662" y="6308"/>
                  <a:pt x="115105" y="5814"/>
                </a:cubicBezTo>
                <a:cubicBezTo>
                  <a:pt x="118548" y="5320"/>
                  <a:pt x="122092" y="3225"/>
                  <a:pt x="12339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-29400" y="-38725"/>
            <a:ext cx="2194657" cy="1585098"/>
          </a:xfrm>
          <a:custGeom>
            <a:avLst/>
            <a:gdLst/>
            <a:ahLst/>
            <a:cxnLst/>
            <a:rect l="l" t="t" r="r" b="b"/>
            <a:pathLst>
              <a:path w="59263" h="42800" extrusionOk="0">
                <a:moveTo>
                  <a:pt x="43" y="0"/>
                </a:moveTo>
                <a:cubicBezTo>
                  <a:pt x="43" y="0"/>
                  <a:pt x="1" y="36617"/>
                  <a:pt x="1" y="42800"/>
                </a:cubicBezTo>
                <a:cubicBezTo>
                  <a:pt x="1" y="42523"/>
                  <a:pt x="6904" y="39373"/>
                  <a:pt x="7700" y="38854"/>
                </a:cubicBezTo>
                <a:cubicBezTo>
                  <a:pt x="10598" y="36961"/>
                  <a:pt x="13019" y="34339"/>
                  <a:pt x="14670" y="31298"/>
                </a:cubicBezTo>
                <a:cubicBezTo>
                  <a:pt x="16873" y="27251"/>
                  <a:pt x="18758" y="22912"/>
                  <a:pt x="22201" y="19720"/>
                </a:cubicBezTo>
                <a:cubicBezTo>
                  <a:pt x="27587" y="14719"/>
                  <a:pt x="35420" y="13739"/>
                  <a:pt x="42558" y="11980"/>
                </a:cubicBezTo>
                <a:cubicBezTo>
                  <a:pt x="49695" y="10220"/>
                  <a:pt x="57310" y="7087"/>
                  <a:pt x="592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5"/>
          <p:cNvSpPr/>
          <p:nvPr/>
        </p:nvSpPr>
        <p:spPr>
          <a:xfrm rot="10800000" flipH="1">
            <a:off x="8484350" y="3387550"/>
            <a:ext cx="677950" cy="2302950"/>
          </a:xfrm>
          <a:custGeom>
            <a:avLst/>
            <a:gdLst/>
            <a:ahLst/>
            <a:cxnLst/>
            <a:rect l="l" t="t" r="r" b="b"/>
            <a:pathLst>
              <a:path w="27118" h="92118" extrusionOk="0">
                <a:moveTo>
                  <a:pt x="27118" y="1"/>
                </a:moveTo>
                <a:cubicBezTo>
                  <a:pt x="15432" y="6133"/>
                  <a:pt x="6158" y="17736"/>
                  <a:pt x="3075" y="30578"/>
                </a:cubicBezTo>
                <a:cubicBezTo>
                  <a:pt x="1" y="43412"/>
                  <a:pt x="2723" y="57519"/>
                  <a:pt x="10363" y="68293"/>
                </a:cubicBezTo>
                <a:cubicBezTo>
                  <a:pt x="12525" y="71334"/>
                  <a:pt x="15038" y="74106"/>
                  <a:pt x="17358" y="77039"/>
                </a:cubicBezTo>
                <a:cubicBezTo>
                  <a:pt x="21128" y="81780"/>
                  <a:pt x="24462" y="86681"/>
                  <a:pt x="27118" y="92118"/>
                </a:cubicBezTo>
                <a:lnTo>
                  <a:pt x="2711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7636975" y="362400"/>
            <a:ext cx="1005900" cy="10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1175500" y="432350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-416875" y="1090375"/>
            <a:ext cx="1130100" cy="1130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5"/>
          <p:cNvSpPr/>
          <p:nvPr/>
        </p:nvSpPr>
        <p:spPr>
          <a:xfrm rot="-5400000">
            <a:off x="8053025" y="2948776"/>
            <a:ext cx="1130100" cy="113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713225" y="432350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/>
          <p:nvPr/>
        </p:nvSpPr>
        <p:spPr>
          <a:xfrm>
            <a:off x="7553225" y="-49325"/>
            <a:ext cx="1629014" cy="1758433"/>
          </a:xfrm>
          <a:custGeom>
            <a:avLst/>
            <a:gdLst/>
            <a:ahLst/>
            <a:cxnLst/>
            <a:rect l="l" t="t" r="r" b="b"/>
            <a:pathLst>
              <a:path w="53923" h="58207" extrusionOk="0">
                <a:moveTo>
                  <a:pt x="378" y="1"/>
                </a:moveTo>
                <a:cubicBezTo>
                  <a:pt x="1" y="2430"/>
                  <a:pt x="1098" y="5245"/>
                  <a:pt x="2992" y="6987"/>
                </a:cubicBezTo>
                <a:cubicBezTo>
                  <a:pt x="5823" y="9593"/>
                  <a:pt x="9744" y="10531"/>
                  <a:pt x="13312" y="11947"/>
                </a:cubicBezTo>
                <a:cubicBezTo>
                  <a:pt x="19621" y="14451"/>
                  <a:pt x="25476" y="19093"/>
                  <a:pt x="27571" y="25551"/>
                </a:cubicBezTo>
                <a:cubicBezTo>
                  <a:pt x="29070" y="30176"/>
                  <a:pt x="28551" y="35386"/>
                  <a:pt x="30729" y="39734"/>
                </a:cubicBezTo>
                <a:cubicBezTo>
                  <a:pt x="33234" y="44744"/>
                  <a:pt x="38712" y="47466"/>
                  <a:pt x="43998" y="49335"/>
                </a:cubicBezTo>
                <a:cubicBezTo>
                  <a:pt x="46244" y="50139"/>
                  <a:pt x="48564" y="50868"/>
                  <a:pt x="50508" y="52250"/>
                </a:cubicBezTo>
                <a:cubicBezTo>
                  <a:pt x="52333" y="53540"/>
                  <a:pt x="53811" y="55555"/>
                  <a:pt x="53915" y="57773"/>
                </a:cubicBezTo>
                <a:lnTo>
                  <a:pt x="53915" y="57773"/>
                </a:lnTo>
                <a:lnTo>
                  <a:pt x="53574" y="1"/>
                </a:lnTo>
                <a:close/>
                <a:moveTo>
                  <a:pt x="53915" y="57773"/>
                </a:moveTo>
                <a:lnTo>
                  <a:pt x="53917" y="58206"/>
                </a:lnTo>
                <a:cubicBezTo>
                  <a:pt x="53922" y="58061"/>
                  <a:pt x="53921" y="57917"/>
                  <a:pt x="53915" y="57773"/>
                </a:cubicBezTo>
                <a:close/>
              </a:path>
            </a:pathLst>
          </a:custGeom>
          <a:solidFill>
            <a:srgbClr val="3E4C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6"/>
          <p:cNvSpPr/>
          <p:nvPr/>
        </p:nvSpPr>
        <p:spPr>
          <a:xfrm>
            <a:off x="1450625" y="3875101"/>
            <a:ext cx="1268400" cy="1268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6"/>
          <p:cNvSpPr/>
          <p:nvPr/>
        </p:nvSpPr>
        <p:spPr>
          <a:xfrm>
            <a:off x="544800" y="-646700"/>
            <a:ext cx="1186200" cy="1186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6"/>
          <p:cNvSpPr/>
          <p:nvPr/>
        </p:nvSpPr>
        <p:spPr>
          <a:xfrm>
            <a:off x="8311025" y="857617"/>
            <a:ext cx="650700" cy="1255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6"/>
          <p:cNvSpPr/>
          <p:nvPr/>
        </p:nvSpPr>
        <p:spPr>
          <a:xfrm>
            <a:off x="0" y="3008025"/>
            <a:ext cx="2082997" cy="2135483"/>
          </a:xfrm>
          <a:custGeom>
            <a:avLst/>
            <a:gdLst/>
            <a:ahLst/>
            <a:cxnLst/>
            <a:rect l="l" t="t" r="r" b="b"/>
            <a:pathLst>
              <a:path w="51195" h="52485" extrusionOk="0">
                <a:moveTo>
                  <a:pt x="1" y="1"/>
                </a:moveTo>
                <a:lnTo>
                  <a:pt x="1" y="52485"/>
                </a:lnTo>
                <a:lnTo>
                  <a:pt x="51161" y="52485"/>
                </a:lnTo>
                <a:cubicBezTo>
                  <a:pt x="51194" y="49737"/>
                  <a:pt x="50843" y="48020"/>
                  <a:pt x="50114" y="45372"/>
                </a:cubicBezTo>
                <a:cubicBezTo>
                  <a:pt x="49385" y="42717"/>
                  <a:pt x="48070" y="39935"/>
                  <a:pt x="45548" y="38846"/>
                </a:cubicBezTo>
                <a:cubicBezTo>
                  <a:pt x="44350" y="38329"/>
                  <a:pt x="43039" y="38263"/>
                  <a:pt x="41721" y="38263"/>
                </a:cubicBezTo>
                <a:cubicBezTo>
                  <a:pt x="41276" y="38263"/>
                  <a:pt x="40830" y="38271"/>
                  <a:pt x="40387" y="38271"/>
                </a:cubicBezTo>
                <a:cubicBezTo>
                  <a:pt x="40253" y="38271"/>
                  <a:pt x="40119" y="38270"/>
                  <a:pt x="39986" y="38268"/>
                </a:cubicBezTo>
                <a:cubicBezTo>
                  <a:pt x="36417" y="38226"/>
                  <a:pt x="32597" y="37179"/>
                  <a:pt x="30385" y="34381"/>
                </a:cubicBezTo>
                <a:cubicBezTo>
                  <a:pt x="28450" y="31918"/>
                  <a:pt x="28098" y="28609"/>
                  <a:pt x="27193" y="25610"/>
                </a:cubicBezTo>
                <a:cubicBezTo>
                  <a:pt x="26297" y="22611"/>
                  <a:pt x="24286" y="19436"/>
                  <a:pt x="21162" y="19135"/>
                </a:cubicBezTo>
                <a:cubicBezTo>
                  <a:pt x="21005" y="19120"/>
                  <a:pt x="20848" y="19113"/>
                  <a:pt x="20692" y="19113"/>
                </a:cubicBezTo>
                <a:cubicBezTo>
                  <a:pt x="18151" y="19113"/>
                  <a:pt x="15785" y="20948"/>
                  <a:pt x="13216" y="20948"/>
                </a:cubicBezTo>
                <a:cubicBezTo>
                  <a:pt x="13148" y="20948"/>
                  <a:pt x="13079" y="20947"/>
                  <a:pt x="13011" y="20944"/>
                </a:cubicBezTo>
                <a:cubicBezTo>
                  <a:pt x="9551" y="20810"/>
                  <a:pt x="7180" y="17292"/>
                  <a:pt x="6367" y="13924"/>
                </a:cubicBezTo>
                <a:cubicBezTo>
                  <a:pt x="5907" y="12014"/>
                  <a:pt x="5756" y="10062"/>
                  <a:pt x="5446" y="8135"/>
                </a:cubicBezTo>
                <a:cubicBezTo>
                  <a:pt x="5153" y="6275"/>
                  <a:pt x="4583" y="4692"/>
                  <a:pt x="3913" y="2958"/>
                </a:cubicBezTo>
                <a:cubicBezTo>
                  <a:pt x="3653" y="2254"/>
                  <a:pt x="3343" y="1559"/>
                  <a:pt x="2849" y="998"/>
                </a:cubicBezTo>
                <a:cubicBezTo>
                  <a:pt x="2078" y="118"/>
                  <a:pt x="1098" y="26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6"/>
          <p:cNvSpPr/>
          <p:nvPr/>
        </p:nvSpPr>
        <p:spPr>
          <a:xfrm rot="5400000">
            <a:off x="7691800" y="3653050"/>
            <a:ext cx="677950" cy="2302950"/>
          </a:xfrm>
          <a:custGeom>
            <a:avLst/>
            <a:gdLst/>
            <a:ahLst/>
            <a:cxnLst/>
            <a:rect l="l" t="t" r="r" b="b"/>
            <a:pathLst>
              <a:path w="27118" h="92118" extrusionOk="0">
                <a:moveTo>
                  <a:pt x="27118" y="1"/>
                </a:moveTo>
                <a:cubicBezTo>
                  <a:pt x="15432" y="6133"/>
                  <a:pt x="6158" y="17736"/>
                  <a:pt x="3075" y="30578"/>
                </a:cubicBezTo>
                <a:cubicBezTo>
                  <a:pt x="1" y="43412"/>
                  <a:pt x="2723" y="57519"/>
                  <a:pt x="10363" y="68293"/>
                </a:cubicBezTo>
                <a:cubicBezTo>
                  <a:pt x="12525" y="71334"/>
                  <a:pt x="15038" y="74106"/>
                  <a:pt x="17358" y="77039"/>
                </a:cubicBezTo>
                <a:cubicBezTo>
                  <a:pt x="21128" y="81780"/>
                  <a:pt x="24462" y="86681"/>
                  <a:pt x="27118" y="92118"/>
                </a:cubicBezTo>
                <a:lnTo>
                  <a:pt x="271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/>
          <p:nvPr/>
        </p:nvSpPr>
        <p:spPr>
          <a:xfrm>
            <a:off x="0" y="4451775"/>
            <a:ext cx="6459909" cy="691718"/>
          </a:xfrm>
          <a:custGeom>
            <a:avLst/>
            <a:gdLst/>
            <a:ahLst/>
            <a:cxnLst/>
            <a:rect l="l" t="t" r="r" b="b"/>
            <a:pathLst>
              <a:path w="151739" h="16248" extrusionOk="0">
                <a:moveTo>
                  <a:pt x="66082" y="0"/>
                </a:moveTo>
                <a:cubicBezTo>
                  <a:pt x="63985" y="0"/>
                  <a:pt x="61893" y="194"/>
                  <a:pt x="59823" y="624"/>
                </a:cubicBezTo>
                <a:cubicBezTo>
                  <a:pt x="54637" y="1696"/>
                  <a:pt x="49820" y="4218"/>
                  <a:pt x="44601" y="5139"/>
                </a:cubicBezTo>
                <a:cubicBezTo>
                  <a:pt x="42533" y="5503"/>
                  <a:pt x="40444" y="5608"/>
                  <a:pt x="38346" y="5608"/>
                </a:cubicBezTo>
                <a:cubicBezTo>
                  <a:pt x="35446" y="5608"/>
                  <a:pt x="32529" y="5407"/>
                  <a:pt x="29622" y="5407"/>
                </a:cubicBezTo>
                <a:cubicBezTo>
                  <a:pt x="28906" y="5407"/>
                  <a:pt x="28192" y="5419"/>
                  <a:pt x="27478" y="5449"/>
                </a:cubicBezTo>
                <a:cubicBezTo>
                  <a:pt x="17149" y="5885"/>
                  <a:pt x="7322" y="8842"/>
                  <a:pt x="0" y="16130"/>
                </a:cubicBezTo>
                <a:lnTo>
                  <a:pt x="151739" y="16248"/>
                </a:lnTo>
                <a:cubicBezTo>
                  <a:pt x="142318" y="10900"/>
                  <a:pt x="132333" y="5397"/>
                  <a:pt x="121516" y="5397"/>
                </a:cubicBezTo>
                <a:cubicBezTo>
                  <a:pt x="121387" y="5397"/>
                  <a:pt x="121258" y="5397"/>
                  <a:pt x="121128" y="5399"/>
                </a:cubicBezTo>
                <a:cubicBezTo>
                  <a:pt x="113996" y="5485"/>
                  <a:pt x="106950" y="8016"/>
                  <a:pt x="99890" y="8016"/>
                </a:cubicBezTo>
                <a:cubicBezTo>
                  <a:pt x="98665" y="8016"/>
                  <a:pt x="97440" y="7940"/>
                  <a:pt x="96214" y="7761"/>
                </a:cubicBezTo>
                <a:cubicBezTo>
                  <a:pt x="91958" y="7142"/>
                  <a:pt x="87987" y="5324"/>
                  <a:pt x="83966" y="3791"/>
                </a:cubicBezTo>
                <a:cubicBezTo>
                  <a:pt x="78251" y="1618"/>
                  <a:pt x="72148" y="0"/>
                  <a:pt x="660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3896375" y="0"/>
            <a:ext cx="4959097" cy="880026"/>
          </a:xfrm>
          <a:custGeom>
            <a:avLst/>
            <a:gdLst/>
            <a:ahLst/>
            <a:cxnLst/>
            <a:rect l="l" t="t" r="r" b="b"/>
            <a:pathLst>
              <a:path w="123399" h="21898" extrusionOk="0">
                <a:moveTo>
                  <a:pt x="1" y="0"/>
                </a:moveTo>
                <a:cubicBezTo>
                  <a:pt x="7417" y="9259"/>
                  <a:pt x="20028" y="12630"/>
                  <a:pt x="32089" y="12630"/>
                </a:cubicBezTo>
                <a:cubicBezTo>
                  <a:pt x="33572" y="12630"/>
                  <a:pt x="35046" y="12580"/>
                  <a:pt x="36501" y="12482"/>
                </a:cubicBezTo>
                <a:cubicBezTo>
                  <a:pt x="38486" y="12347"/>
                  <a:pt x="40505" y="12152"/>
                  <a:pt x="42499" y="12152"/>
                </a:cubicBezTo>
                <a:cubicBezTo>
                  <a:pt x="44460" y="12152"/>
                  <a:pt x="46397" y="12341"/>
                  <a:pt x="48254" y="12960"/>
                </a:cubicBezTo>
                <a:cubicBezTo>
                  <a:pt x="51195" y="13932"/>
                  <a:pt x="53683" y="15917"/>
                  <a:pt x="56355" y="17492"/>
                </a:cubicBezTo>
                <a:cubicBezTo>
                  <a:pt x="61346" y="20443"/>
                  <a:pt x="67131" y="21898"/>
                  <a:pt x="72922" y="21898"/>
                </a:cubicBezTo>
                <a:cubicBezTo>
                  <a:pt x="79922" y="21898"/>
                  <a:pt x="86932" y="19772"/>
                  <a:pt x="92562" y="15590"/>
                </a:cubicBezTo>
                <a:cubicBezTo>
                  <a:pt x="96566" y="12616"/>
                  <a:pt x="100034" y="8654"/>
                  <a:pt x="104784" y="7121"/>
                </a:cubicBezTo>
                <a:cubicBezTo>
                  <a:pt x="108093" y="6057"/>
                  <a:pt x="111662" y="6308"/>
                  <a:pt x="115105" y="5814"/>
                </a:cubicBezTo>
                <a:cubicBezTo>
                  <a:pt x="118548" y="5320"/>
                  <a:pt x="122092" y="3225"/>
                  <a:pt x="12339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713225" y="3863550"/>
            <a:ext cx="1022400" cy="102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7"/>
          <p:cNvSpPr/>
          <p:nvPr/>
        </p:nvSpPr>
        <p:spPr>
          <a:xfrm rot="-5400000">
            <a:off x="8284800" y="0"/>
            <a:ext cx="859200" cy="85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238800" y="2141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713225" y="214150"/>
            <a:ext cx="337200" cy="65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8550200" y="42786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8105425" y="4278650"/>
            <a:ext cx="650700" cy="650700"/>
          </a:xfrm>
          <a:prstGeom prst="chord">
            <a:avLst>
              <a:gd name="adj1" fmla="val 5347883"/>
              <a:gd name="adj2" fmla="val 1620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●"/>
              <a:defRPr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○"/>
              <a:defRPr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■"/>
              <a:defRPr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●"/>
              <a:defRPr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○"/>
              <a:defRPr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■"/>
              <a:defRPr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●"/>
              <a:defRPr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○"/>
              <a:defRPr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■"/>
              <a:defRPr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nvestor.nvidia.com/stock-info/stock-quote-and-chart/default.aspx?utm_source=chatgpt.com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qubika.com/blog/list-of-semiconductor-conferences-in-2025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>
            <a:spLocks noGrp="1"/>
          </p:cNvSpPr>
          <p:nvPr>
            <p:ph type="ctrTitle"/>
          </p:nvPr>
        </p:nvSpPr>
        <p:spPr>
          <a:xfrm>
            <a:off x="345300" y="940975"/>
            <a:ext cx="8453400" cy="17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NVIDIA Stock Return Trend</a:t>
            </a:r>
            <a:endParaRPr sz="460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>
            <a:spLocks noGrp="1"/>
          </p:cNvSpPr>
          <p:nvPr>
            <p:ph type="subTitle" idx="1"/>
          </p:nvPr>
        </p:nvSpPr>
        <p:spPr>
          <a:xfrm>
            <a:off x="106425" y="2123550"/>
            <a:ext cx="7239000" cy="8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FIN6775 – Programming for FinTech</a:t>
            </a:r>
            <a:endParaRPr sz="2200" b="1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Final Project</a:t>
            </a:r>
            <a:endParaRPr sz="2200" b="1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8"/>
          <p:cNvSpPr txBox="1"/>
          <p:nvPr/>
        </p:nvSpPr>
        <p:spPr>
          <a:xfrm>
            <a:off x="6020790" y="3153075"/>
            <a:ext cx="22584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Team members:</a:t>
            </a:r>
            <a:endParaRPr b="1"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</a:t>
            </a:r>
            <a:r>
              <a:rPr lang="en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Hoai Phuong Dang</a:t>
            </a:r>
            <a:endParaRPr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Ngoc Phuong Nguyen</a:t>
            </a:r>
            <a:endParaRPr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12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Phuong Anh Pham</a:t>
            </a:r>
            <a:endParaRPr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68" name="Google Shape;268;p28"/>
          <p:cNvCxnSpPr/>
          <p:nvPr/>
        </p:nvCxnSpPr>
        <p:spPr>
          <a:xfrm>
            <a:off x="737425" y="1874275"/>
            <a:ext cx="769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Albert Sans"/>
                <a:ea typeface="Albert Sans"/>
                <a:cs typeface="Albert Sans"/>
                <a:sym typeface="Albert Sans"/>
              </a:rPr>
              <a:t>Table of contents</a:t>
            </a:r>
            <a:endParaRPr b="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2"/>
          </p:nvPr>
        </p:nvSpPr>
        <p:spPr>
          <a:xfrm>
            <a:off x="713225" y="1487876"/>
            <a:ext cx="7347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5" name="Google Shape;275;p29"/>
          <p:cNvSpPr txBox="1">
            <a:spLocks noGrp="1"/>
          </p:cNvSpPr>
          <p:nvPr>
            <p:ph type="title" idx="3"/>
          </p:nvPr>
        </p:nvSpPr>
        <p:spPr>
          <a:xfrm>
            <a:off x="713225" y="3058475"/>
            <a:ext cx="7347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4"/>
          </p:nvPr>
        </p:nvSpPr>
        <p:spPr>
          <a:xfrm>
            <a:off x="3419275" y="1487876"/>
            <a:ext cx="7347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77" name="Google Shape;277;p29"/>
          <p:cNvSpPr txBox="1">
            <a:spLocks noGrp="1"/>
          </p:cNvSpPr>
          <p:nvPr>
            <p:ph type="title" idx="5"/>
          </p:nvPr>
        </p:nvSpPr>
        <p:spPr>
          <a:xfrm>
            <a:off x="3419275" y="3058475"/>
            <a:ext cx="7347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6"/>
          </p:nvPr>
        </p:nvSpPr>
        <p:spPr>
          <a:xfrm>
            <a:off x="6118550" y="1487876"/>
            <a:ext cx="7347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79" name="Google Shape;279;p29"/>
          <p:cNvSpPr txBox="1">
            <a:spLocks noGrp="1"/>
          </p:cNvSpPr>
          <p:nvPr>
            <p:ph type="title" idx="7"/>
          </p:nvPr>
        </p:nvSpPr>
        <p:spPr>
          <a:xfrm>
            <a:off x="6118550" y="3058475"/>
            <a:ext cx="7347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80" name="Google Shape;280;p29"/>
          <p:cNvSpPr txBox="1">
            <a:spLocks noGrp="1"/>
          </p:cNvSpPr>
          <p:nvPr>
            <p:ph type="subTitle" idx="1"/>
          </p:nvPr>
        </p:nvSpPr>
        <p:spPr>
          <a:xfrm>
            <a:off x="713225" y="1990125"/>
            <a:ext cx="26070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Background</a:t>
            </a:r>
            <a:endParaRPr/>
          </a:p>
        </p:txBody>
      </p:sp>
      <p:sp>
        <p:nvSpPr>
          <p:cNvPr id="281" name="Google Shape;281;p29"/>
          <p:cNvSpPr txBox="1">
            <a:spLocks noGrp="1"/>
          </p:cNvSpPr>
          <p:nvPr>
            <p:ph type="subTitle" idx="8"/>
          </p:nvPr>
        </p:nvSpPr>
        <p:spPr>
          <a:xfrm>
            <a:off x="3419275" y="19886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Process</a:t>
            </a:r>
            <a:endParaRPr/>
          </a:p>
        </p:txBody>
      </p:sp>
      <p:sp>
        <p:nvSpPr>
          <p:cNvPr id="282" name="Google Shape;282;p29"/>
          <p:cNvSpPr txBox="1">
            <a:spLocks noGrp="1"/>
          </p:cNvSpPr>
          <p:nvPr>
            <p:ph type="subTitle" idx="9"/>
          </p:nvPr>
        </p:nvSpPr>
        <p:spPr>
          <a:xfrm>
            <a:off x="6118550" y="19886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Process</a:t>
            </a:r>
            <a:endParaRPr/>
          </a:p>
        </p:txBody>
      </p:sp>
      <p:sp>
        <p:nvSpPr>
          <p:cNvPr id="283" name="Google Shape;283;p29"/>
          <p:cNvSpPr txBox="1">
            <a:spLocks noGrp="1"/>
          </p:cNvSpPr>
          <p:nvPr>
            <p:ph type="subTitle" idx="13"/>
          </p:nvPr>
        </p:nvSpPr>
        <p:spPr>
          <a:xfrm>
            <a:off x="713225" y="3560997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0"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284" name="Google Shape;284;p29"/>
          <p:cNvSpPr txBox="1">
            <a:spLocks noGrp="1"/>
          </p:cNvSpPr>
          <p:nvPr>
            <p:ph type="subTitle" idx="14"/>
          </p:nvPr>
        </p:nvSpPr>
        <p:spPr>
          <a:xfrm>
            <a:off x="3419275" y="3560997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 </a:t>
            </a:r>
            <a:endParaRPr/>
          </a:p>
        </p:txBody>
      </p:sp>
      <p:sp>
        <p:nvSpPr>
          <p:cNvPr id="285" name="Google Shape;285;p29"/>
          <p:cNvSpPr txBox="1">
            <a:spLocks noGrp="1"/>
          </p:cNvSpPr>
          <p:nvPr>
            <p:ph type="subTitle" idx="15"/>
          </p:nvPr>
        </p:nvSpPr>
        <p:spPr>
          <a:xfrm>
            <a:off x="6118550" y="3560997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Contributions and References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/>
        </p:nvSpPr>
        <p:spPr>
          <a:xfrm>
            <a:off x="1088538" y="177300"/>
            <a:ext cx="6966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highlight>
                  <a:schemeClr val="accent6"/>
                </a:highlight>
                <a:latin typeface="Albert Sans"/>
                <a:ea typeface="Albert Sans"/>
                <a:cs typeface="Albert Sans"/>
                <a:sym typeface="Albert Sans"/>
              </a:rPr>
              <a:t>Research Background</a:t>
            </a:r>
            <a:endParaRPr sz="2400" b="1" dirty="0">
              <a:solidFill>
                <a:schemeClr val="dk1"/>
              </a:solidFill>
              <a:highlight>
                <a:schemeClr val="accent6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4294967295"/>
          </p:nvPr>
        </p:nvSpPr>
        <p:spPr>
          <a:xfrm>
            <a:off x="503314" y="1485580"/>
            <a:ext cx="3810657" cy="24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NVIDIA Corporation (NASDAQ: </a:t>
            </a:r>
            <a:r>
              <a:rPr lang="en" b="1"/>
              <a:t>NVDA</a:t>
            </a:r>
            <a:r>
              <a:rPr lang="en"/>
              <a:t>) is a leading semiconductor and artificial intelligence company headquartered in Santa Clara, California. 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Founded in 1993, NVIDIA’s products power advancements in AI, cloud computing, and autonomous systems, making it a dominant force in both the global technology and semiconductor industries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0"/>
          <p:cNvSpPr txBox="1">
            <a:spLocks noGrp="1"/>
          </p:cNvSpPr>
          <p:nvPr>
            <p:ph type="subTitle" idx="4"/>
          </p:nvPr>
        </p:nvSpPr>
        <p:spPr>
          <a:xfrm>
            <a:off x="1639127" y="1039824"/>
            <a:ext cx="17997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company</a:t>
            </a:r>
            <a:endParaRPr/>
          </a:p>
        </p:txBody>
      </p:sp>
      <p:pic>
        <p:nvPicPr>
          <p:cNvPr id="293" name="Google Shape;293;p30" title="NVLogo_2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418" y="3501115"/>
            <a:ext cx="1289949" cy="87887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0"/>
          <p:cNvSpPr txBox="1"/>
          <p:nvPr/>
        </p:nvSpPr>
        <p:spPr>
          <a:xfrm>
            <a:off x="4420236" y="2571960"/>
            <a:ext cx="4592100" cy="20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304800">
              <a:lnSpc>
                <a:spcPct val="115000"/>
              </a:lnSpc>
              <a:buClr>
                <a:schemeClr val="dk2"/>
              </a:buClr>
              <a:buSzPts val="1200"/>
              <a:buFont typeface="Assistant"/>
              <a:buChar char="●"/>
            </a:pPr>
            <a:r>
              <a:rPr lang="en" sz="1200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Between 2015 and 2025, </a:t>
            </a:r>
            <a:r>
              <a:rPr lang="en-US" sz="1200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NVIDIA's</a:t>
            </a:r>
            <a:r>
              <a:rPr lang="en" sz="1200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stock has shown remarkable growth along with significant volatility</a:t>
            </a:r>
            <a:endParaRPr sz="1200" dirty="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●"/>
            </a:pPr>
            <a:r>
              <a:rPr lang="en" sz="1200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Analysts and investors continue to question whether NVIDIA’s rapid rise reflects genuine fundamental strength</a:t>
            </a:r>
            <a:endParaRPr sz="1200" dirty="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ssistant"/>
              <a:buChar char="●"/>
            </a:pPr>
            <a:r>
              <a:rPr lang="en" sz="1200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Exploring these dynamics provides valuable insights into market efficiency theories and offers practical implications for investment strategy and stock valuation</a:t>
            </a:r>
            <a:endParaRPr sz="1200" dirty="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4809219" y="2208187"/>
            <a:ext cx="4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Research Background </a:t>
            </a:r>
            <a:endParaRPr sz="2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0D3B84-3C4D-173F-F6E8-C6B8EBF37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926" y="960341"/>
            <a:ext cx="3715096" cy="1077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4FF837-5B30-A13E-85F1-D3D35132D401}"/>
              </a:ext>
            </a:extLst>
          </p:cNvPr>
          <p:cNvSpPr txBox="1"/>
          <p:nvPr/>
        </p:nvSpPr>
        <p:spPr>
          <a:xfrm>
            <a:off x="4717217" y="2037725"/>
            <a:ext cx="4201929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/>
              <a:t>Source: NVIDIA Corporation Investor Relations (2025)</a:t>
            </a:r>
          </a:p>
        </p:txBody>
      </p:sp>
      <p:pic>
        <p:nvPicPr>
          <p:cNvPr id="4" name="Picture 3" descr="List of Semiconductor conferences in 2025 - Qubika">
            <a:extLst>
              <a:ext uri="{FF2B5EF4-FFF2-40B4-BE49-F238E27FC236}">
                <a16:creationId xmlns:a16="http://schemas.microsoft.com/office/drawing/2014/main" id="{4C1420E5-F3B1-35EE-293A-2C56B38A04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6376" y="3499753"/>
            <a:ext cx="1543987" cy="8796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 build="p"/>
      <p:bldP spid="292" grpId="0" build="p"/>
      <p:bldP spid="295" grpId="0"/>
      <p:bldP spid="29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>
            <a:spLocks noGrp="1"/>
          </p:cNvSpPr>
          <p:nvPr>
            <p:ph type="title"/>
          </p:nvPr>
        </p:nvSpPr>
        <p:spPr>
          <a:xfrm>
            <a:off x="627250" y="253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2" name="Google Shape;302;p31"/>
          <p:cNvSpPr txBox="1">
            <a:spLocks noGrp="1"/>
          </p:cNvSpPr>
          <p:nvPr>
            <p:ph type="body" idx="1"/>
          </p:nvPr>
        </p:nvSpPr>
        <p:spPr>
          <a:xfrm>
            <a:off x="508050" y="914225"/>
            <a:ext cx="8127900" cy="4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 explore the relationship between NVIDIA's 10-year stock returns and factors such as market, fundamentals, and Google Trends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3" name="Google Shape;303;p31"/>
          <p:cNvGraphicFramePr/>
          <p:nvPr/>
        </p:nvGraphicFramePr>
        <p:xfrm>
          <a:off x="1066775" y="2544375"/>
          <a:ext cx="7010425" cy="1780453"/>
        </p:xfrm>
        <a:graphic>
          <a:graphicData uri="http://schemas.openxmlformats.org/drawingml/2006/table">
            <a:tbl>
              <a:tblPr>
                <a:noFill/>
                <a:tableStyleId>{D14C4EDC-AA3C-478A-B82C-993B539C328E}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1.</a:t>
                      </a:r>
                      <a:endParaRPr sz="10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B2C3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How closely do NVIDIA’s stock returns move in relation to broader market benchmarks such as the S&amp;P 500 (SPX) and the S&amp;P 500 Information Technology Index (S5INFT)?</a:t>
                      </a:r>
                      <a:endParaRPr sz="1000">
                        <a:solidFill>
                          <a:schemeClr val="dk2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2.</a:t>
                      </a:r>
                      <a:endParaRPr sz="10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B2C3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To what extent do NVIDIA’s fundamental factors (revenue growth rate and net income growth rate) explain variations in its stock returns?</a:t>
                      </a:r>
                      <a:endParaRPr sz="1000">
                        <a:solidFill>
                          <a:schemeClr val="dk2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3.</a:t>
                      </a:r>
                      <a:endParaRPr sz="10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381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B2C3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Is there a measurable relationship between Google Trends data and NVIDIA’s stock return?</a:t>
                      </a:r>
                      <a:endParaRPr sz="1200">
                        <a:solidFill>
                          <a:srgbClr val="2B2C3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4.</a:t>
                      </a:r>
                      <a:endParaRPr sz="10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381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B2C3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When all the examined factors are combined, do they show a stronger correlation with NVIDIA’s stock performance compared to each factor on its own?</a:t>
                      </a:r>
                      <a:endParaRPr sz="1200">
                        <a:solidFill>
                          <a:srgbClr val="2B2C3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4" name="Google Shape;304;p31"/>
          <p:cNvSpPr txBox="1"/>
          <p:nvPr/>
        </p:nvSpPr>
        <p:spPr>
          <a:xfrm>
            <a:off x="461850" y="1854800"/>
            <a:ext cx="87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Based on the project objectives, the following research questions will be addressed through the project:</a:t>
            </a:r>
            <a:endParaRPr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05" name="Google Shape;3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34100" y="1665400"/>
            <a:ext cx="8299874" cy="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/>
      <p:bldP spid="302" grpId="0" build="p"/>
      <p:bldP spid="30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2"/>
          <p:cNvSpPr txBox="1">
            <a:spLocks noGrp="1"/>
          </p:cNvSpPr>
          <p:nvPr>
            <p:ph type="title"/>
          </p:nvPr>
        </p:nvSpPr>
        <p:spPr>
          <a:xfrm>
            <a:off x="720000" y="3027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5"/>
          </p:nvPr>
        </p:nvSpPr>
        <p:spPr>
          <a:xfrm>
            <a:off x="1603621" y="2182017"/>
            <a:ext cx="2733300" cy="7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Bloomberg Terminal</a:t>
            </a:r>
            <a:endParaRPr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2"/>
          </p:nvPr>
        </p:nvSpPr>
        <p:spPr>
          <a:xfrm>
            <a:off x="1603621" y="2833892"/>
            <a:ext cx="2829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Bloomberg Terminal was used to collect NVIDIA’s quarterly stock prices, along with the S&amp;P 500 and S&amp;P 500 Information Technology (S5INFT) index prices, as well as company’s quarterly revenue and net income figures for performance and trend analysis.</a:t>
            </a:r>
            <a:endParaRPr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3"/>
          </p:nvPr>
        </p:nvSpPr>
        <p:spPr>
          <a:xfrm>
            <a:off x="5338620" y="2833895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Trends was used to collect quarterly search trend data related to NVIDIA.</a:t>
            </a:r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6"/>
          </p:nvPr>
        </p:nvSpPr>
        <p:spPr>
          <a:xfrm>
            <a:off x="5338896" y="2182015"/>
            <a:ext cx="2175300" cy="7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Trends</a:t>
            </a:r>
            <a:endParaRPr/>
          </a:p>
        </p:txBody>
      </p:sp>
      <p:pic>
        <p:nvPicPr>
          <p:cNvPr id="315" name="Google Shape;3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446" y="1501880"/>
            <a:ext cx="1537902" cy="8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2" title="Logo-google-trends-royalty-free-PNG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4646" y="1660842"/>
            <a:ext cx="2550400" cy="6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" grpId="0" build="p"/>
      <p:bldP spid="312" grpId="0" build="p"/>
      <p:bldP spid="313" grpId="0" build="p"/>
      <p:bldP spid="31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>
            <a:spLocks noGrp="1"/>
          </p:cNvSpPr>
          <p:nvPr>
            <p:ph type="title"/>
          </p:nvPr>
        </p:nvSpPr>
        <p:spPr>
          <a:xfrm>
            <a:off x="772446" y="24916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Process</a:t>
            </a:r>
            <a:endParaRPr/>
          </a:p>
        </p:txBody>
      </p:sp>
      <p:sp>
        <p:nvSpPr>
          <p:cNvPr id="2" name="Google Shape;321;p33"/>
          <p:cNvSpPr/>
          <p:nvPr/>
        </p:nvSpPr>
        <p:spPr>
          <a:xfrm>
            <a:off x="1663895" y="1329328"/>
            <a:ext cx="621900" cy="621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22;p33"/>
          <p:cNvSpPr/>
          <p:nvPr/>
        </p:nvSpPr>
        <p:spPr>
          <a:xfrm>
            <a:off x="3309493" y="1302434"/>
            <a:ext cx="621900" cy="621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23;p33"/>
          <p:cNvSpPr/>
          <p:nvPr/>
        </p:nvSpPr>
        <p:spPr>
          <a:xfrm>
            <a:off x="4990291" y="1324301"/>
            <a:ext cx="621900" cy="621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24;p33"/>
          <p:cNvSpPr/>
          <p:nvPr/>
        </p:nvSpPr>
        <p:spPr>
          <a:xfrm>
            <a:off x="6694820" y="1336051"/>
            <a:ext cx="621900" cy="621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" name="Google Shape;325;p33"/>
          <p:cNvCxnSpPr>
            <a:cxnSpLocks/>
          </p:cNvCxnSpPr>
          <p:nvPr/>
        </p:nvCxnSpPr>
        <p:spPr>
          <a:xfrm flipV="1">
            <a:off x="2323924" y="1613383"/>
            <a:ext cx="963187" cy="672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326;p33"/>
          <p:cNvCxnSpPr>
            <a:cxnSpLocks/>
            <a:stCxn id="10" idx="3"/>
          </p:cNvCxnSpPr>
          <p:nvPr/>
        </p:nvCxnSpPr>
        <p:spPr>
          <a:xfrm>
            <a:off x="3990038" y="1613385"/>
            <a:ext cx="977871" cy="10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328;p33"/>
          <p:cNvSpPr txBox="1">
            <a:spLocks/>
          </p:cNvSpPr>
          <p:nvPr/>
        </p:nvSpPr>
        <p:spPr>
          <a:xfrm>
            <a:off x="1625718" y="1386101"/>
            <a:ext cx="7347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500" b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0" name="Google Shape;329;p33"/>
          <p:cNvSpPr txBox="1">
            <a:spLocks/>
          </p:cNvSpPr>
          <p:nvPr/>
        </p:nvSpPr>
        <p:spPr>
          <a:xfrm>
            <a:off x="3255338" y="1364235"/>
            <a:ext cx="7347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500" b="0">
                <a:solidFill>
                  <a:schemeClr val="accent2"/>
                </a:solidFill>
              </a:rPr>
              <a:t>2.1</a:t>
            </a:r>
          </a:p>
        </p:txBody>
      </p:sp>
      <p:sp>
        <p:nvSpPr>
          <p:cNvPr id="11" name="Google Shape;330;p33"/>
          <p:cNvSpPr txBox="1">
            <a:spLocks/>
          </p:cNvSpPr>
          <p:nvPr/>
        </p:nvSpPr>
        <p:spPr>
          <a:xfrm>
            <a:off x="4939113" y="1358036"/>
            <a:ext cx="7347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500" b="0">
                <a:solidFill>
                  <a:schemeClr val="accent2"/>
                </a:solidFill>
              </a:rPr>
              <a:t>2.2</a:t>
            </a:r>
          </a:p>
        </p:txBody>
      </p:sp>
      <p:sp>
        <p:nvSpPr>
          <p:cNvPr id="12" name="Google Shape;331;p33"/>
          <p:cNvSpPr txBox="1">
            <a:spLocks/>
          </p:cNvSpPr>
          <p:nvPr/>
        </p:nvSpPr>
        <p:spPr>
          <a:xfrm>
            <a:off x="6636755" y="1397766"/>
            <a:ext cx="7347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sz="2500" b="0">
                <a:solidFill>
                  <a:schemeClr val="accent2"/>
                </a:solidFill>
              </a:rPr>
              <a:t>2.3</a:t>
            </a:r>
          </a:p>
        </p:txBody>
      </p:sp>
      <p:sp>
        <p:nvSpPr>
          <p:cNvPr id="15" name="Google Shape;335;p33"/>
          <p:cNvSpPr txBox="1"/>
          <p:nvPr/>
        </p:nvSpPr>
        <p:spPr>
          <a:xfrm flipH="1">
            <a:off x="4467781" y="2035888"/>
            <a:ext cx="1730118" cy="132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444444"/>
                </a:solidFill>
                <a:latin typeface="+mn-lt"/>
                <a:ea typeface="Assistant"/>
                <a:cs typeface="Assistant"/>
                <a:sym typeface="Assistant"/>
              </a:rPr>
              <a:t>Google Trends Dataset</a:t>
            </a:r>
          </a:p>
          <a:p>
            <a:pPr algn="ctr"/>
            <a:r>
              <a:rPr lang="en-US" sz="1200">
                <a:latin typeface="Assistant" pitchFamily="2" charset="-79"/>
                <a:cs typeface="Assistant" pitchFamily="2" charset="-79"/>
              </a:rPr>
              <a:t>Remove extras → Normalize values </a:t>
            </a:r>
          </a:p>
          <a:p>
            <a:pPr algn="ctr"/>
            <a:r>
              <a:rPr lang="en-US" sz="1200">
                <a:latin typeface="Assistant" pitchFamily="2" charset="-79"/>
                <a:cs typeface="Assistant" pitchFamily="2" charset="-79"/>
              </a:rPr>
              <a:t>→ Convert to quarterly → Calculate averages &amp; correlations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7" name="Google Shape;333;p33">
            <a:extLst>
              <a:ext uri="{FF2B5EF4-FFF2-40B4-BE49-F238E27FC236}">
                <a16:creationId xmlns:a16="http://schemas.microsoft.com/office/drawing/2014/main" id="{578D9A33-CFEF-C5F6-8845-32E02CF15325}"/>
              </a:ext>
            </a:extLst>
          </p:cNvPr>
          <p:cNvSpPr txBox="1"/>
          <p:nvPr/>
        </p:nvSpPr>
        <p:spPr>
          <a:xfrm flipH="1">
            <a:off x="1064163" y="2006494"/>
            <a:ext cx="1730119" cy="1712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 b="1">
                <a:solidFill>
                  <a:schemeClr val="dk2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Imported </a:t>
            </a:r>
            <a:r>
              <a:rPr lang="en" sz="1200">
                <a:solidFill>
                  <a:schemeClr val="dk2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neccessary libraries </a:t>
            </a:r>
            <a:r>
              <a:rPr lang="en" sz="1200" b="1">
                <a:solidFill>
                  <a:schemeClr val="dk2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(</a:t>
            </a:r>
            <a:r>
              <a:rPr lang="en-US" sz="1200">
                <a:latin typeface="Assistant" pitchFamily="2" charset="-79"/>
                <a:cs typeface="Assistant" pitchFamily="2" charset="-79"/>
              </a:rPr>
              <a:t>pandas, </a:t>
            </a:r>
            <a:r>
              <a:rPr lang="en-US" sz="1200" err="1">
                <a:latin typeface="Assistant" pitchFamily="2" charset="-79"/>
                <a:cs typeface="Assistant" pitchFamily="2" charset="-79"/>
              </a:rPr>
              <a:t>numpy</a:t>
            </a:r>
            <a:r>
              <a:rPr lang="en-US" sz="1200">
                <a:latin typeface="Assistant" pitchFamily="2" charset="-79"/>
                <a:cs typeface="Assistant" pitchFamily="2" charset="-79"/>
              </a:rPr>
              <a:t>, </a:t>
            </a:r>
            <a:r>
              <a:rPr lang="en-US" sz="1200" err="1">
                <a:latin typeface="Assistant" pitchFamily="2" charset="-79"/>
                <a:cs typeface="Assistant" pitchFamily="2" charset="-79"/>
              </a:rPr>
              <a:t>pytrend</a:t>
            </a:r>
            <a:r>
              <a:rPr lang="en-US" sz="1200">
                <a:latin typeface="Assistant" pitchFamily="2" charset="-79"/>
                <a:cs typeface="Assistant" pitchFamily="2" charset="-79"/>
              </a:rPr>
              <a:t>, matplotlib, </a:t>
            </a:r>
            <a:r>
              <a:rPr lang="en-US" sz="1200" err="1">
                <a:latin typeface="Assistant" pitchFamily="2" charset="-79"/>
                <a:cs typeface="Assistant" pitchFamily="2" charset="-79"/>
              </a:rPr>
              <a:t>statsmodels</a:t>
            </a:r>
            <a:r>
              <a:rPr lang="en-US" sz="1200">
                <a:latin typeface="Assistant" pitchFamily="2" charset="-79"/>
                <a:cs typeface="Assistant" pitchFamily="2" charset="-79"/>
              </a:rPr>
              <a:t>,..)</a:t>
            </a:r>
            <a:endParaRPr lang="en" sz="1200" b="1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ctr"/>
            <a:r>
              <a:rPr lang="en" sz="1200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Read</a:t>
            </a: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the data (Excel file) and </a:t>
            </a:r>
            <a:r>
              <a:rPr lang="en" sz="1200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imported</a:t>
            </a: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data from  Google Trends</a:t>
            </a:r>
            <a:endParaRPr lang="en-US"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1146B0-CDE1-19DF-D45E-35100970E65B}"/>
              </a:ext>
            </a:extLst>
          </p:cNvPr>
          <p:cNvSpPr txBox="1"/>
          <p:nvPr/>
        </p:nvSpPr>
        <p:spPr>
          <a:xfrm>
            <a:off x="2914645" y="2062018"/>
            <a:ext cx="155313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>
                <a:solidFill>
                  <a:srgbClr val="444444"/>
                </a:solidFill>
              </a:rPr>
              <a:t>Historical</a:t>
            </a:r>
            <a:r>
              <a:rPr lang="en-US" sz="1100" b="1" baseline="0">
                <a:solidFill>
                  <a:srgbClr val="444444"/>
                </a:solidFill>
                <a:latin typeface="Arial"/>
                <a:ea typeface="Arial"/>
                <a:cs typeface="Arial"/>
              </a:rPr>
              <a:t> Price</a:t>
            </a:r>
            <a:r>
              <a:rPr lang="en-US" sz="1100" b="1">
                <a:solidFill>
                  <a:srgbClr val="444444"/>
                </a:solidFill>
              </a:rPr>
              <a:t> Dataset</a:t>
            </a:r>
            <a:r>
              <a:rPr lang="en-US" sz="1100" baseline="0">
                <a:solidFill>
                  <a:srgbClr val="444444"/>
                </a:solidFill>
                <a:latin typeface="Arial"/>
                <a:ea typeface="Arial"/>
                <a:cs typeface="Arial"/>
              </a:rPr>
              <a:t> </a:t>
            </a:r>
            <a:endParaRPr lang="en-US"/>
          </a:p>
          <a:p>
            <a:r>
              <a:rPr lang="en-US" sz="1200">
                <a:latin typeface="Assistant" pitchFamily="2" charset="-79"/>
                <a:cs typeface="Assistant" pitchFamily="2" charset="-79"/>
              </a:rPr>
              <a:t>Rename columns → Convert to datetime → Create “Quarter” → Calculate returns → Drop missing values​​</a:t>
            </a:r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5CC1B1-597C-A69A-04BA-6DCBEE1893AB}"/>
              </a:ext>
            </a:extLst>
          </p:cNvPr>
          <p:cNvSpPr txBox="1"/>
          <p:nvPr/>
        </p:nvSpPr>
        <p:spPr>
          <a:xfrm>
            <a:off x="6318263" y="2104960"/>
            <a:ext cx="1553136" cy="17697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b="1">
                <a:solidFill>
                  <a:srgbClr val="444444"/>
                </a:solidFill>
              </a:rPr>
              <a:t> Financial</a:t>
            </a:r>
            <a:r>
              <a:rPr lang="en-US" sz="1100" b="1" baseline="0">
                <a:solidFill>
                  <a:srgbClr val="444444"/>
                </a:solidFill>
                <a:latin typeface="Arial"/>
                <a:ea typeface="Arial"/>
                <a:cs typeface="Arial"/>
              </a:rPr>
              <a:t> Statement</a:t>
            </a:r>
            <a:r>
              <a:rPr lang="en-US" sz="1100" b="1">
                <a:solidFill>
                  <a:srgbClr val="444444"/>
                </a:solidFill>
              </a:rPr>
              <a:t> Dataset</a:t>
            </a:r>
            <a:endParaRPr lang="en-US" sz="1200">
              <a:latin typeface="Assistant"/>
              <a:cs typeface="Assistant"/>
            </a:endParaRPr>
          </a:p>
          <a:p>
            <a:r>
              <a:rPr lang="en-US" sz="1200">
                <a:latin typeface="Assistant"/>
                <a:cs typeface="Assistant"/>
              </a:rPr>
              <a:t>Extract revenue &amp; net income → Clean &amp; transpose → Convert to quarterly  format→ Compute growth rates​​</a:t>
            </a:r>
            <a:endParaRPr lang="en-US">
              <a:latin typeface="Assistant"/>
              <a:cs typeface="Assistant"/>
            </a:endParaRPr>
          </a:p>
          <a:p>
            <a:pPr algn="ctr"/>
            <a:endParaRPr lang="en-US"/>
          </a:p>
        </p:txBody>
      </p:sp>
      <p:cxnSp>
        <p:nvCxnSpPr>
          <p:cNvPr id="24" name="Google Shape;326;p33">
            <a:extLst>
              <a:ext uri="{FF2B5EF4-FFF2-40B4-BE49-F238E27FC236}">
                <a16:creationId xmlns:a16="http://schemas.microsoft.com/office/drawing/2014/main" id="{A91D3802-A48A-2CBA-B019-3916335C942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673813" y="1607186"/>
            <a:ext cx="10007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9" grpId="0"/>
      <p:bldP spid="10" grpId="0"/>
      <p:bldP spid="11" grpId="0"/>
      <p:bldP spid="12" grpId="0"/>
      <p:bldP spid="15" grpId="0"/>
      <p:bldP spid="17" grpId="0"/>
      <p:bldP spid="14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/>
          <p:nvPr/>
        </p:nvSpPr>
        <p:spPr>
          <a:xfrm>
            <a:off x="4189730" y="1017697"/>
            <a:ext cx="663300" cy="621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4"/>
          <p:cNvSpPr/>
          <p:nvPr/>
        </p:nvSpPr>
        <p:spPr>
          <a:xfrm>
            <a:off x="6128289" y="999867"/>
            <a:ext cx="663300" cy="621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4"/>
          <p:cNvSpPr txBox="1">
            <a:spLocks noGrp="1"/>
          </p:cNvSpPr>
          <p:nvPr>
            <p:ph type="title" idx="4294967295"/>
          </p:nvPr>
        </p:nvSpPr>
        <p:spPr>
          <a:xfrm>
            <a:off x="4224779" y="1102123"/>
            <a:ext cx="593202" cy="43180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solidFill>
                  <a:schemeClr val="accent2"/>
                </a:solidFill>
              </a:rPr>
              <a:t>4</a:t>
            </a:r>
            <a:endParaRPr sz="2500" b="0">
              <a:solidFill>
                <a:schemeClr val="accent2"/>
              </a:solidFill>
            </a:endParaRPr>
          </a:p>
        </p:txBody>
      </p:sp>
      <p:sp>
        <p:nvSpPr>
          <p:cNvPr id="364" name="Google Shape;364;p34"/>
          <p:cNvSpPr txBox="1">
            <a:spLocks noGrp="1"/>
          </p:cNvSpPr>
          <p:nvPr>
            <p:ph type="title" idx="4294967295"/>
          </p:nvPr>
        </p:nvSpPr>
        <p:spPr>
          <a:xfrm>
            <a:off x="6076430" y="1079499"/>
            <a:ext cx="783900" cy="49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>
                <a:solidFill>
                  <a:schemeClr val="accent2"/>
                </a:solidFill>
              </a:rPr>
              <a:t>5</a:t>
            </a:r>
            <a:endParaRPr sz="2500" b="0">
              <a:solidFill>
                <a:schemeClr val="accent2"/>
              </a:solidFill>
            </a:endParaRPr>
          </a:p>
        </p:txBody>
      </p:sp>
      <p:sp>
        <p:nvSpPr>
          <p:cNvPr id="367" name="Google Shape;367;p34"/>
          <p:cNvSpPr txBox="1">
            <a:spLocks noGrp="1"/>
          </p:cNvSpPr>
          <p:nvPr>
            <p:ph type="title"/>
          </p:nvPr>
        </p:nvSpPr>
        <p:spPr>
          <a:xfrm>
            <a:off x="548843" y="1701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Process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C19D-5443-52BF-42D2-5E632C928C20}"/>
              </a:ext>
            </a:extLst>
          </p:cNvPr>
          <p:cNvSpPr txBox="1"/>
          <p:nvPr/>
        </p:nvSpPr>
        <p:spPr>
          <a:xfrm>
            <a:off x="3342345" y="1701397"/>
            <a:ext cx="235807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161616"/>
                </a:solidFill>
                <a:latin typeface="Assistant"/>
                <a:cs typeface="Assistant"/>
              </a:rPr>
              <a:t>Visualization</a:t>
            </a:r>
          </a:p>
          <a:p>
            <a:pPr marL="285750" indent="-285750">
              <a:buChar char="•"/>
            </a:pPr>
            <a:r>
              <a:rPr lang="en-US" sz="1200">
                <a:solidFill>
                  <a:srgbClr val="161616"/>
                </a:solidFill>
                <a:latin typeface="Assistant"/>
              </a:rPr>
              <a:t>Correlation heatmap</a:t>
            </a:r>
            <a:endParaRPr lang="en-US" sz="1200">
              <a:latin typeface="Assistant"/>
            </a:endParaRPr>
          </a:p>
          <a:p>
            <a:pPr marL="285750" indent="-285750">
              <a:buChar char="•"/>
            </a:pPr>
            <a:r>
              <a:rPr lang="en-US" sz="1200">
                <a:solidFill>
                  <a:srgbClr val="161616"/>
                </a:solidFill>
                <a:latin typeface="Assistant"/>
              </a:rPr>
              <a:t>Quarterly returns: NVDA vs SPX vs S5INFT (2016–2025)</a:t>
            </a:r>
            <a:endParaRPr lang="en-US" sz="1200">
              <a:latin typeface="Assistant"/>
            </a:endParaRPr>
          </a:p>
          <a:p>
            <a:pPr marL="285750" indent="-285750">
              <a:buChar char="•"/>
            </a:pPr>
            <a:r>
              <a:rPr lang="en-US" sz="1200">
                <a:solidFill>
                  <a:srgbClr val="161616"/>
                </a:solidFill>
                <a:latin typeface="Assistant"/>
              </a:rPr>
              <a:t>NVDA returns vs Google Trend</a:t>
            </a:r>
            <a:endParaRPr lang="en-US" sz="1200">
              <a:latin typeface="Assistant"/>
            </a:endParaRPr>
          </a:p>
          <a:p>
            <a:pPr marL="285750" indent="-285750">
              <a:buChar char="•"/>
            </a:pPr>
            <a:r>
              <a:rPr lang="en-US" sz="1200">
                <a:solidFill>
                  <a:srgbClr val="161616"/>
                </a:solidFill>
                <a:latin typeface="Assistant"/>
              </a:rPr>
              <a:t>NVDA returns vs Revenue &amp; Net Income growth</a:t>
            </a:r>
            <a:endParaRPr lang="en-US">
              <a:latin typeface="Assistant"/>
            </a:endParaRPr>
          </a:p>
          <a:p>
            <a:endParaRPr lang="en-US" sz="1200" b="1">
              <a:solidFill>
                <a:srgbClr val="161616"/>
              </a:solidFill>
              <a:latin typeface="Assistant"/>
              <a:cs typeface="Assistant"/>
            </a:endParaRPr>
          </a:p>
          <a:p>
            <a:endParaRPr lang="en-US" sz="1200" b="1">
              <a:solidFill>
                <a:srgbClr val="161616"/>
              </a:solidFill>
              <a:latin typeface="Assistant"/>
              <a:cs typeface="Assistan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97D77-F07C-5E25-2F18-6E9FECF70521}"/>
              </a:ext>
            </a:extLst>
          </p:cNvPr>
          <p:cNvSpPr txBox="1"/>
          <p:nvPr/>
        </p:nvSpPr>
        <p:spPr>
          <a:xfrm>
            <a:off x="5725325" y="1722344"/>
            <a:ext cx="1874827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chemeClr val="dk2"/>
                </a:solidFill>
                <a:latin typeface="Assistant"/>
                <a:cs typeface="Assistant"/>
              </a:rPr>
              <a:t>Regression</a:t>
            </a:r>
          </a:p>
          <a:p>
            <a:r>
              <a:rPr lang="en-US" sz="1200">
                <a:solidFill>
                  <a:schemeClr val="dk2"/>
                </a:solidFill>
                <a:latin typeface="Assistant"/>
                <a:cs typeface="Assistant"/>
              </a:rPr>
              <a:t>Multiple linear regression: NVDA_HPR explained by market indices (SPX, S5INFT), Google Trend, and fundamental growth rates (Revenue, Net Income)</a:t>
            </a:r>
          </a:p>
          <a:p>
            <a:pPr algn="ctr"/>
            <a:endParaRPr lang="en-US"/>
          </a:p>
        </p:txBody>
      </p:sp>
      <p:cxnSp>
        <p:nvCxnSpPr>
          <p:cNvPr id="5" name="Google Shape;325;p33">
            <a:extLst>
              <a:ext uri="{FF2B5EF4-FFF2-40B4-BE49-F238E27FC236}">
                <a16:creationId xmlns:a16="http://schemas.microsoft.com/office/drawing/2014/main" id="{7A9C8B0E-7297-7AFF-5D44-37ACDB364E84}"/>
              </a:ext>
            </a:extLst>
          </p:cNvPr>
          <p:cNvCxnSpPr>
            <a:cxnSpLocks/>
          </p:cNvCxnSpPr>
          <p:nvPr/>
        </p:nvCxnSpPr>
        <p:spPr>
          <a:xfrm>
            <a:off x="4865915" y="1332519"/>
            <a:ext cx="12494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324;p33">
            <a:extLst>
              <a:ext uri="{FF2B5EF4-FFF2-40B4-BE49-F238E27FC236}">
                <a16:creationId xmlns:a16="http://schemas.microsoft.com/office/drawing/2014/main" id="{2225D4B9-CCEA-44C4-847C-21DA3F01A0BF}"/>
              </a:ext>
            </a:extLst>
          </p:cNvPr>
          <p:cNvSpPr/>
          <p:nvPr/>
        </p:nvSpPr>
        <p:spPr>
          <a:xfrm>
            <a:off x="1936581" y="1004259"/>
            <a:ext cx="621900" cy="621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F2954-168A-2274-D421-D366881B9EB6}"/>
              </a:ext>
            </a:extLst>
          </p:cNvPr>
          <p:cNvSpPr txBox="1"/>
          <p:nvPr/>
        </p:nvSpPr>
        <p:spPr>
          <a:xfrm>
            <a:off x="1987069" y="1079497"/>
            <a:ext cx="59320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solidFill>
                  <a:schemeClr val="accent2"/>
                </a:solidFill>
                <a:latin typeface="Albert Sans"/>
              </a:rPr>
              <a:t> 3</a:t>
            </a:r>
          </a:p>
        </p:txBody>
      </p:sp>
      <p:cxnSp>
        <p:nvCxnSpPr>
          <p:cNvPr id="8" name="Google Shape;325;p33">
            <a:extLst>
              <a:ext uri="{FF2B5EF4-FFF2-40B4-BE49-F238E27FC236}">
                <a16:creationId xmlns:a16="http://schemas.microsoft.com/office/drawing/2014/main" id="{AFED2C0A-14F8-7DB8-EBCE-A8F56F6026E1}"/>
              </a:ext>
            </a:extLst>
          </p:cNvPr>
          <p:cNvCxnSpPr>
            <a:cxnSpLocks/>
          </p:cNvCxnSpPr>
          <p:nvPr/>
        </p:nvCxnSpPr>
        <p:spPr>
          <a:xfrm>
            <a:off x="2626125" y="1315209"/>
            <a:ext cx="156360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AA393B-8252-3663-BB99-E52510E273A4}"/>
              </a:ext>
            </a:extLst>
          </p:cNvPr>
          <p:cNvSpPr txBox="1"/>
          <p:nvPr/>
        </p:nvSpPr>
        <p:spPr>
          <a:xfrm>
            <a:off x="1703220" y="1722344"/>
            <a:ext cx="1466515" cy="17697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baseline="0">
                <a:solidFill>
                  <a:srgbClr val="444444"/>
                </a:solidFill>
                <a:latin typeface="Arial"/>
                <a:ea typeface="Arial"/>
                <a:cs typeface="Arial"/>
              </a:rPr>
              <a:t>Merge Dataset</a:t>
            </a:r>
            <a:endParaRPr lang="en-US"/>
          </a:p>
          <a:p>
            <a:pPr lvl="0"/>
            <a:r>
              <a:rPr lang="en-US" sz="1200">
                <a:latin typeface="Assistant" pitchFamily="2" charset="-79"/>
                <a:cs typeface="Assistant" pitchFamily="2" charset="-79"/>
              </a:rPr>
              <a:t>Standardize index → Merge all tables → Remove redundant columns → Sort &amp; finalize dataset​</a:t>
            </a:r>
          </a:p>
          <a:p>
            <a:pPr algn="ctr" rtl="0"/>
            <a:r>
              <a:rPr lang="en-US" sz="1200">
                <a:latin typeface="Assistant" pitchFamily="2" charset="-79"/>
                <a:cs typeface="Assistant" pitchFamily="2" charset="-79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11" name="Google Shape;382;p35" title="Screenshot 2025-10-27 at 7.14.24 PM.png">
            <a:extLst>
              <a:ext uri="{FF2B5EF4-FFF2-40B4-BE49-F238E27FC236}">
                <a16:creationId xmlns:a16="http://schemas.microsoft.com/office/drawing/2014/main" id="{98A303B4-0234-B259-43DB-48204AA1CE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655" y="3455723"/>
            <a:ext cx="5776125" cy="1419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" grpId="0" animBg="1"/>
      <p:bldP spid="349" grpId="0" animBg="1"/>
      <p:bldP spid="363" grpId="0"/>
      <p:bldP spid="364" grpId="0"/>
      <p:bldP spid="2" grpId="0"/>
      <p:bldP spid="3" grpId="0"/>
      <p:bldP spid="6" grpId="0" animBg="1"/>
      <p:bldP spid="7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6" title="Screenshot 2025-10-27 at 9.45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3000" y="872125"/>
            <a:ext cx="3877975" cy="189547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 txBox="1"/>
          <p:nvPr/>
        </p:nvSpPr>
        <p:spPr>
          <a:xfrm>
            <a:off x="713225" y="285550"/>
            <a:ext cx="8708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Relationship Between NVIDIA’s Returns and Market Benchmarks</a:t>
            </a:r>
            <a:endParaRPr sz="23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89" name="Google Shape;389;p36"/>
          <p:cNvSpPr txBox="1"/>
          <p:nvPr/>
        </p:nvSpPr>
        <p:spPr>
          <a:xfrm>
            <a:off x="384268" y="2846276"/>
            <a:ext cx="8375437" cy="16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r>
              <a:rPr lang="en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NVIDIA’s returns </a:t>
            </a:r>
            <a:r>
              <a:rPr lang="en" b="1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move</a:t>
            </a:r>
            <a:r>
              <a:rPr lang="en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in the </a:t>
            </a:r>
            <a:r>
              <a:rPr lang="en" b="1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same general direction</a:t>
            </a:r>
            <a:r>
              <a:rPr lang="en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as both the S&amp;P 500 and the S5INFT index most of the time.</a:t>
            </a:r>
            <a:endParaRPr dirty="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r>
              <a:rPr lang="en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NVIDIA’s return line (blue) </a:t>
            </a:r>
            <a:r>
              <a:rPr lang="en" b="1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fluctuates</a:t>
            </a:r>
            <a:r>
              <a:rPr lang="en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much more </a:t>
            </a:r>
            <a:r>
              <a:rPr lang="en" b="1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sharply</a:t>
            </a:r>
            <a:r>
              <a:rPr lang="en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than the orange (S&amp;P 500) and green (S5INFT) lines, suggesting higher volatility </a:t>
            </a:r>
            <a:endParaRPr dirty="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742950" marR="0" lvl="0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NVIDIA experiences both larger gains (e.g., 2023Q1) and deeper drops (e.g., 2018Q4).</a:t>
            </a:r>
            <a:endParaRPr lang="en-US" sz="1100" dirty="0"/>
          </a:p>
          <a:p>
            <a:pPr marL="457200" marR="0" lvl="0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➢"/>
            </a:pPr>
            <a:r>
              <a:rPr lang="en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NVIDIA tends to move more closely with S5INFT than with the overall S&amp;P 500</a:t>
            </a:r>
          </a:p>
          <a:p>
            <a:pPr marL="457200" marR="0" lvl="0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➢"/>
            </a:pPr>
            <a:r>
              <a:rPr lang="en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NVIDIA’s performance is driven more by sector-specific dynamics (like semiconductor or AI developments) than by the broad market.</a:t>
            </a:r>
            <a:br>
              <a:rPr lang="en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</a:br>
            <a:endParaRPr sz="1100" dirty="0"/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 dirty="0"/>
            </a:b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"/>
          <p:cNvSpPr txBox="1"/>
          <p:nvPr/>
        </p:nvSpPr>
        <p:spPr>
          <a:xfrm>
            <a:off x="0" y="348225"/>
            <a:ext cx="9144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Relationship Between NVIDIA’s Returns and Google Trends</a:t>
            </a:r>
            <a:endParaRPr sz="21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03" name="Google Shape;403;p38"/>
          <p:cNvSpPr txBox="1"/>
          <p:nvPr/>
        </p:nvSpPr>
        <p:spPr>
          <a:xfrm>
            <a:off x="138700" y="1052625"/>
            <a:ext cx="4160700" cy="3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NVIDIA’s return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(blue line) and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Google search trend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(orange line) generally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move upward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over time, especially after 2020.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The stock returns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fluctuate more sharply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, showing NVIDIA”s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high volatility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compared to the steadier  rise in Google Trends.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The spikes in search interest often come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after 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major return peaks.</a:t>
            </a: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endParaRPr lang="en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➢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As NVIDIA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gained 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more public attention, its stock performance also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improved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➢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People tend to search for NVIDIA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more often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after its stock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price rises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➢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Overall, the graph shows that public interest reacts to NVIDIA's success rather than causing it.</a:t>
            </a:r>
            <a:b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</a:br>
            <a:endParaRPr sz="1100"/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/>
            </a:b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/>
          </a:p>
        </p:txBody>
      </p:sp>
      <p:pic>
        <p:nvPicPr>
          <p:cNvPr id="404" name="Google Shape;4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9400" y="1225350"/>
            <a:ext cx="4540825" cy="23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9"/>
          <p:cNvSpPr txBox="1"/>
          <p:nvPr/>
        </p:nvSpPr>
        <p:spPr>
          <a:xfrm>
            <a:off x="0" y="348225"/>
            <a:ext cx="9144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Relationship Between NVIDIA’s Returns and Google Trends</a:t>
            </a:r>
            <a:endParaRPr sz="21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10" name="Google Shape;410;p39"/>
          <p:cNvSpPr txBox="1"/>
          <p:nvPr/>
        </p:nvSpPr>
        <p:spPr>
          <a:xfrm>
            <a:off x="138700" y="1052625"/>
            <a:ext cx="4160700" cy="3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From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Q-4 to Q0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, the correlation values are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negative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or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near zero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From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Q+1 to Q+4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, the correlation turns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positive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, reaching its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highest 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value around +4 quarters (r≈ 0.26)</a:t>
            </a: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endParaRPr lang="en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●"/>
            </a:pP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➢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Public attention tends to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rise 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only after major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price changes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-&gt; People become more interested in NVIDIA after the stock moves.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➢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The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increased 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search interest may be followed by </a:t>
            </a:r>
            <a:r>
              <a:rPr lang="en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higher returns</a:t>
            </a: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in the next few quarters.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ssistant"/>
              <a:buChar char="➢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Google Trends reflects delayed investor reactions to NVIDIA’s performance rather than being an early signal of stock returns.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411" name="Google Shape;41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8825" y="1177250"/>
            <a:ext cx="2991175" cy="30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7"/>
          <p:cNvSpPr txBox="1">
            <a:spLocks noGrp="1"/>
          </p:cNvSpPr>
          <p:nvPr>
            <p:ph type="title"/>
          </p:nvPr>
        </p:nvSpPr>
        <p:spPr>
          <a:xfrm>
            <a:off x="624750" y="364400"/>
            <a:ext cx="9063600" cy="7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/>
              <a:t>Relationship Between Returns and Fundamentals</a:t>
            </a:r>
            <a:endParaRPr sz="2800"/>
          </a:p>
        </p:txBody>
      </p:sp>
      <p:sp>
        <p:nvSpPr>
          <p:cNvPr id="395" name="Google Shape;395;p37"/>
          <p:cNvSpPr txBox="1"/>
          <p:nvPr/>
        </p:nvSpPr>
        <p:spPr>
          <a:xfrm>
            <a:off x="326600" y="876275"/>
            <a:ext cx="4762500" cy="3571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The scatter plots visualize the relationship between NVIDIA’s quarterly returns and its Revenue Growth Rate and Net Income Growth Rate.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●"/>
            </a:pPr>
            <a:endParaRPr lang="en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Both plots show a flat regression line, confirming that: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➢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There is no significant positive relationship between short-term revenue or profit growth and stock performance.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➢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NVIDIA’s high stock volatility is not explained by earnings growth, consistent with the idea that investor expectations or market sentiment dominate price movements.</a:t>
            </a:r>
            <a:endParaRPr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➢"/>
            </a:pPr>
            <a:r>
              <a:rPr lang="en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The visual pattern suggests that market-driven factors outweigh firm-specific financial performance in influencing short-term returns.</a:t>
            </a:r>
            <a:endParaRPr lang="en-US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37" title="Screenshot 2025-10-27 at 9.25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675" y="1050232"/>
            <a:ext cx="2392099" cy="182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7" title="Screenshot 2025-10-27 at 9.25.2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5425" y="3058691"/>
            <a:ext cx="2366605" cy="17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/>
          <p:cNvSpPr txBox="1"/>
          <p:nvPr/>
        </p:nvSpPr>
        <p:spPr>
          <a:xfrm>
            <a:off x="1866075" y="140475"/>
            <a:ext cx="517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Correlation Analysis</a:t>
            </a:r>
            <a:endParaRPr sz="28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7" name="Google Shape;417;p40"/>
          <p:cNvSpPr txBox="1"/>
          <p:nvPr/>
        </p:nvSpPr>
        <p:spPr>
          <a:xfrm>
            <a:off x="226675" y="897850"/>
            <a:ext cx="4336216" cy="3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i="1" u="sng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Key findings:</a:t>
            </a:r>
            <a:endParaRPr b="1" i="1" u="sng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>
              <a:lnSpc>
                <a:spcPct val="90000"/>
              </a:lnSpc>
              <a:spcBef>
                <a:spcPts val="500"/>
              </a:spcBef>
            </a:pP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r>
              <a:rPr lang="en" sz="1100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NVDA_HPR</a:t>
            </a:r>
            <a:r>
              <a:rPr lang="en" sz="11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is strongly correlated with both the S&amp;P Information Technology Index (r = 0.72) and the S&amp;P 500 Index (r = 0.62)  </a:t>
            </a:r>
            <a:endParaRPr lang="en" sz="1100">
              <a:solidFill>
                <a:schemeClr val="dk2"/>
              </a:solidFill>
              <a:latin typeface="Assistant"/>
              <a:ea typeface="Assistant"/>
              <a:cs typeface="Assistant"/>
            </a:endParaRPr>
          </a:p>
          <a:p>
            <a:pPr marL="184150" indent="-171450">
              <a:lnSpc>
                <a:spcPct val="90000"/>
              </a:lnSpc>
              <a:spcBef>
                <a:spcPts val="500"/>
              </a:spcBef>
              <a:buFont typeface="Wingdings"/>
              <a:buChar char="Ø"/>
            </a:pPr>
            <a:r>
              <a:rPr lang="en" sz="11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NVIDIA’s returns move closely with broader market and technology sector trends.</a:t>
            </a:r>
            <a:endParaRPr sz="1100">
              <a:solidFill>
                <a:schemeClr val="dk2"/>
              </a:solidFill>
              <a:latin typeface="Assistant"/>
              <a:ea typeface="Assistant"/>
              <a:cs typeface="Assistant"/>
            </a:endParaRPr>
          </a:p>
          <a:p>
            <a:pPr marL="12700">
              <a:lnSpc>
                <a:spcPct val="90000"/>
              </a:lnSpc>
              <a:spcBef>
                <a:spcPts val="500"/>
              </a:spcBef>
            </a:pPr>
            <a:r>
              <a:rPr lang="en" sz="11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r>
              <a:rPr lang="en" sz="1100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Fundamental variables</a:t>
            </a:r>
            <a:r>
              <a:rPr lang="en" sz="11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(Revenue Growth, Net Income Growth) show very weak short-term correlations with stock returns (r &lt; 0.25) </a:t>
            </a:r>
            <a:endParaRPr lang="en" sz="1100">
              <a:solidFill>
                <a:schemeClr val="dk2"/>
              </a:solidFill>
              <a:latin typeface="Assistant"/>
              <a:ea typeface="Assistant"/>
              <a:cs typeface="Assistant"/>
            </a:endParaRPr>
          </a:p>
          <a:p>
            <a:pPr marL="184150" lvl="0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Wingdings"/>
              <a:buChar char="Ø"/>
            </a:pPr>
            <a:r>
              <a:rPr lang="en" sz="11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Short-term market performance is not primarily driven by quarterly earnings growth.</a:t>
            </a:r>
            <a:endParaRPr sz="1100">
              <a:solidFill>
                <a:schemeClr val="dk2"/>
              </a:solidFill>
              <a:latin typeface="Assistant"/>
              <a:ea typeface="Assistant"/>
              <a:cs typeface="Assistant"/>
            </a:endParaRPr>
          </a:p>
          <a:p>
            <a:pPr marL="12700">
              <a:lnSpc>
                <a:spcPct val="90000"/>
              </a:lnSpc>
              <a:spcBef>
                <a:spcPts val="500"/>
              </a:spcBef>
            </a:pPr>
            <a:r>
              <a:rPr lang="en" sz="11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r>
              <a:rPr lang="en" sz="1100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Trend_Quarterly_Avg </a:t>
            </a:r>
            <a:r>
              <a:rPr lang="en" sz="11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(Google search interest) has near-zero correlation with NVDA returns (r ≈ 0.01) </a:t>
            </a:r>
            <a:endParaRPr lang="en" sz="1100">
              <a:solidFill>
                <a:schemeClr val="dk2"/>
              </a:solidFill>
              <a:latin typeface="Assistant"/>
              <a:ea typeface="Assistant"/>
              <a:cs typeface="Assistant"/>
            </a:endParaRPr>
          </a:p>
          <a:p>
            <a:pPr marL="184150" lvl="0" indent="-171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Wingdings"/>
              <a:buChar char="Ø"/>
            </a:pPr>
            <a:r>
              <a:rPr lang="en" sz="11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Investor attention measured by search frequency does not significantly co-move with stock performance at the quarterly level.</a:t>
            </a:r>
            <a:endParaRPr sz="1100">
              <a:solidFill>
                <a:schemeClr val="dk2"/>
              </a:solidFill>
              <a:latin typeface="Assistant"/>
              <a:ea typeface="Assistant"/>
              <a:cs typeface="Assistant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r>
              <a:rPr lang="en" sz="1100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Revenue Growth Rate and Net Income Growth Rate</a:t>
            </a:r>
            <a:r>
              <a:rPr lang="en" sz="11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are highly correlated (r = 0.77), showing that company fundamentals move together as expected.</a:t>
            </a:r>
            <a:endParaRPr sz="11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18" name="Google Shape;418;p40"/>
          <p:cNvSpPr txBox="1"/>
          <p:nvPr/>
        </p:nvSpPr>
        <p:spPr>
          <a:xfrm>
            <a:off x="1365702" y="730098"/>
            <a:ext cx="641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The correlation heatmap below compares NVIDIA’s quarterly stock returns (NVDA_HPR) with market indices, Google Trends, and firm fundamentals.</a:t>
            </a: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419" name="Google Shape;419;p40" title="Screenshot 2025-10-27 at 9.14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425" y="1469550"/>
            <a:ext cx="3771649" cy="269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" grpId="0"/>
      <p:bldP spid="4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1"/>
          <p:cNvSpPr txBox="1">
            <a:spLocks noGrp="1"/>
          </p:cNvSpPr>
          <p:nvPr>
            <p:ph type="title"/>
          </p:nvPr>
        </p:nvSpPr>
        <p:spPr>
          <a:xfrm>
            <a:off x="325950" y="113250"/>
            <a:ext cx="849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Regression Analysis</a:t>
            </a:r>
            <a:endParaRPr/>
          </a:p>
        </p:txBody>
      </p:sp>
      <p:sp>
        <p:nvSpPr>
          <p:cNvPr id="425" name="Google Shape;425;p41"/>
          <p:cNvSpPr txBox="1"/>
          <p:nvPr/>
        </p:nvSpPr>
        <p:spPr>
          <a:xfrm>
            <a:off x="3853250" y="1168475"/>
            <a:ext cx="4789800" cy="393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Regression summary:</a:t>
            </a:r>
            <a:endParaRPr sz="1200" b="1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R2=0.564 → The model explains roughly 56% of the variation in NVIDIA’s quarterly returns.</a:t>
            </a: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Significant predictors:</a:t>
            </a:r>
            <a:endParaRPr sz="1200" b="1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S5INFT_HPR (p = 0.002) → highly significant; sector performance is a strong driver of NVDA returns.</a:t>
            </a: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SPX_HPR (p = 0.008) → significant but negative coefficient due to collinearity with S5INFT.</a:t>
            </a: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Non-significant predictors:</a:t>
            </a:r>
            <a:endParaRPr sz="1200" b="1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 err="1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Trend_Quarterly_Avg</a:t>
            </a: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 (p = 0.93)</a:t>
            </a: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Revenue Growth Rate (p = 0.65)</a:t>
            </a: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Net Income Growth Rate (p = 0.23)</a:t>
            </a: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→ Neither investor attention nor short-term fundamentals significantly affect quarterly stock performance.</a:t>
            </a: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200"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426" name="Google Shape;426;p41" title="Screenshot 2025-10-27 at 9.32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00" y="1521350"/>
            <a:ext cx="3483700" cy="247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8037" y="1110225"/>
            <a:ext cx="6447938" cy="2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1"/>
          <p:cNvSpPr txBox="1"/>
          <p:nvPr/>
        </p:nvSpPr>
        <p:spPr>
          <a:xfrm>
            <a:off x="1348025" y="742550"/>
            <a:ext cx="61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ct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A multiple regression model (OLS) was estimated:</a:t>
            </a: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0"/>
      <p:bldP spid="4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2"/>
          <p:cNvSpPr txBox="1">
            <a:spLocks noGrp="1"/>
          </p:cNvSpPr>
          <p:nvPr>
            <p:ph type="title"/>
          </p:nvPr>
        </p:nvSpPr>
        <p:spPr>
          <a:xfrm>
            <a:off x="325950" y="251100"/>
            <a:ext cx="849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Regression Analysis</a:t>
            </a:r>
            <a:endParaRPr/>
          </a:p>
        </p:txBody>
      </p:sp>
      <p:sp>
        <p:nvSpPr>
          <p:cNvPr id="434" name="Google Shape;434;p42"/>
          <p:cNvSpPr txBox="1"/>
          <p:nvPr/>
        </p:nvSpPr>
        <p:spPr>
          <a:xfrm>
            <a:off x="1273950" y="985088"/>
            <a:ext cx="6804000" cy="1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ANOVA test also supports this conclusion: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Calibri"/>
              <a:buChar char="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Only S5INFT_HPR shows a statistically significant F-test (p = 0.0019).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➢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All other variables fail to reject the null hypothesis (p &gt; 0.05).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435" name="Google Shape;435;p42" title="Screenshot 2025-10-27 at 9.32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993" y="2295500"/>
            <a:ext cx="5506950" cy="1391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3"/>
          <p:cNvSpPr txBox="1"/>
          <p:nvPr/>
        </p:nvSpPr>
        <p:spPr>
          <a:xfrm>
            <a:off x="1833600" y="741775"/>
            <a:ext cx="5476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Research Conclusion</a:t>
            </a:r>
            <a:endParaRPr sz="3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1" name="Google Shape;441;p43"/>
          <p:cNvSpPr txBox="1"/>
          <p:nvPr/>
        </p:nvSpPr>
        <p:spPr>
          <a:xfrm>
            <a:off x="768600" y="1555800"/>
            <a:ext cx="7606800" cy="275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25450" marR="0" lvl="0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</a:pPr>
            <a:r>
              <a:rPr lang="en-US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NVIDIA’s quarterly returns are primarily explained by overall market and technology sector performance, rather than by quarterly revenue or earnings growth.</a:t>
            </a:r>
            <a:endParaRPr lang="en-US" dirty="0">
              <a:solidFill>
                <a:schemeClr val="dk2"/>
              </a:solidFill>
              <a:latin typeface="Assistant"/>
              <a:ea typeface="Assistant"/>
              <a:cs typeface="Assistant"/>
            </a:endParaRPr>
          </a:p>
          <a:p>
            <a:pPr marL="425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</a:pPr>
            <a:r>
              <a:rPr lang="en-US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The results reveal a clear disconnect between fundamental factors and quarterly stock returns, a pattern commonly observed among high-growth technology firms, where investor expectations and market sentiment have greater influence than actual financial outcomes.</a:t>
            </a:r>
            <a:endParaRPr lang="en-US" dirty="0">
              <a:solidFill>
                <a:schemeClr val="dk2"/>
              </a:solidFill>
              <a:latin typeface="Assistant"/>
              <a:ea typeface="Assistant"/>
              <a:cs typeface="Assistant"/>
            </a:endParaRPr>
          </a:p>
          <a:p>
            <a:pPr marL="4254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</a:pPr>
            <a:r>
              <a:rPr lang="en-US" dirty="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Google Trends data, which proxies investor attention, also shows no significant predictive power for NVIDIA’s quarterly returns.</a:t>
            </a:r>
            <a:endParaRPr lang="en-US" dirty="0">
              <a:solidFill>
                <a:schemeClr val="dk2"/>
              </a:solidFill>
              <a:latin typeface="Assistant"/>
              <a:ea typeface="Assistant"/>
              <a:cs typeface="Assistan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600" dirty="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25450" indent="-285750">
              <a:spcBef>
                <a:spcPts val="500"/>
              </a:spcBef>
              <a:buClr>
                <a:schemeClr val="dk2"/>
              </a:buClr>
              <a:buSzPts val="1400"/>
              <a:buFont typeface="Arial"/>
              <a:buChar char="•"/>
            </a:pPr>
            <a:endParaRPr lang="en-US" dirty="0">
              <a:solidFill>
                <a:schemeClr val="dk2"/>
              </a:solidFill>
              <a:latin typeface="Assistant"/>
              <a:cs typeface="Assistant"/>
              <a:sym typeface="Assistant"/>
            </a:endParaRPr>
          </a:p>
          <a:p>
            <a:pPr marL="425450" indent="-285750">
              <a:spcBef>
                <a:spcPts val="500"/>
              </a:spcBef>
              <a:buClr>
                <a:schemeClr val="dk2"/>
              </a:buClr>
              <a:buSzPts val="1400"/>
              <a:buFont typeface="Arial"/>
              <a:buChar char="•"/>
            </a:pPr>
            <a:endParaRPr lang="en-US" dirty="0">
              <a:solidFill>
                <a:schemeClr val="dk2"/>
              </a:solidFill>
              <a:latin typeface="Assistant"/>
              <a:cs typeface="Assistant"/>
            </a:endParaRPr>
          </a:p>
          <a:p>
            <a:pPr marL="139700" marR="0" lv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</a:pPr>
            <a:endParaRPr lang="en-US" dirty="0">
              <a:solidFill>
                <a:schemeClr val="dk2"/>
              </a:solidFill>
              <a:latin typeface="Assistant"/>
              <a:ea typeface="Assistant"/>
              <a:cs typeface="Assistan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C64382-4DF6-7569-6680-096A09995AAA}"/>
              </a:ext>
            </a:extLst>
          </p:cNvPr>
          <p:cNvSpPr txBox="1"/>
          <p:nvPr/>
        </p:nvSpPr>
        <p:spPr>
          <a:xfrm>
            <a:off x="897025" y="3365559"/>
            <a:ext cx="747837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">
                <a:solidFill>
                  <a:schemeClr val="dk2"/>
                </a:solidFill>
                <a:latin typeface="Assistant"/>
                <a:cs typeface="Assistant"/>
              </a:rPr>
              <a:t>Overall, the findings suggest that NVIDIA’s quarterly stock performance is primarily influenced by market momentum, rather than by investor trends or traditional fundamental valuation factors.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>
          <a:extLst>
            <a:ext uri="{FF2B5EF4-FFF2-40B4-BE49-F238E27FC236}">
              <a16:creationId xmlns:a16="http://schemas.microsoft.com/office/drawing/2014/main" id="{6589D7E4-7784-A208-97B1-26CC9203C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>
            <a:extLst>
              <a:ext uri="{FF2B5EF4-FFF2-40B4-BE49-F238E27FC236}">
                <a16:creationId xmlns:a16="http://schemas.microsoft.com/office/drawing/2014/main" id="{D4469596-7B37-D5FB-F2DB-0D8BFAC591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795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Discussion of the Study </a:t>
            </a:r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825BFE5-E457-77AD-41B2-07D7A1D96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291871"/>
              </p:ext>
            </p:extLst>
          </p:nvPr>
        </p:nvGraphicFramePr>
        <p:xfrm>
          <a:off x="501889" y="1048680"/>
          <a:ext cx="8140221" cy="3657600"/>
        </p:xfrm>
        <a:graphic>
          <a:graphicData uri="http://schemas.openxmlformats.org/drawingml/2006/table">
            <a:tbl>
              <a:tblPr firstRow="1" bandRow="1">
                <a:tableStyleId>{D14C4EDC-AA3C-478A-B82C-993B539C328E}</a:tableStyleId>
              </a:tblPr>
              <a:tblGrid>
                <a:gridCol w="1487720">
                  <a:extLst>
                    <a:ext uri="{9D8B030D-6E8A-4147-A177-3AD203B41FA5}">
                      <a16:colId xmlns:a16="http://schemas.microsoft.com/office/drawing/2014/main" val="2575248196"/>
                    </a:ext>
                  </a:extLst>
                </a:gridCol>
                <a:gridCol w="6652501">
                  <a:extLst>
                    <a:ext uri="{9D8B030D-6E8A-4147-A177-3AD203B41FA5}">
                      <a16:colId xmlns:a16="http://schemas.microsoft.com/office/drawing/2014/main" val="424273556"/>
                    </a:ext>
                  </a:extLst>
                </a:gridCol>
              </a:tblGrid>
              <a:tr h="10193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Bebas Neue"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cs typeface="Arial"/>
                          <a:sym typeface="Arial"/>
                        </a:rPr>
                        <a:t>1. Significance of the Study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 </a:t>
                      </a:r>
                      <a:r>
                        <a:rPr lang="en-US" sz="1200" b="0" dirty="0"/>
                        <a:t>This analysis evaluates the contribution of five key factors to NVIDIA’s stock return fluctuations.</a:t>
                      </a:r>
                    </a:p>
                    <a:p>
                      <a:r>
                        <a:rPr lang="en-US" sz="1200" b="0" dirty="0"/>
                        <a:t>- The study reveals multicollinearity among some independent variables, which reduces the reliability of the regression model.</a:t>
                      </a:r>
                    </a:p>
                    <a:p>
                      <a:pPr marL="171450" indent="-171450">
                        <a:buFont typeface="Wingdings" pitchFamily="2" charset="2"/>
                        <a:buChar char="Ø"/>
                      </a:pPr>
                      <a:r>
                        <a:rPr lang="en-US" sz="1200" b="0" dirty="0"/>
                        <a:t>To enhance model performance and apply it for forecasting, techniques to address multicollinearity should be implemented.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396089"/>
                  </a:ext>
                </a:extLst>
              </a:tr>
              <a:tr h="21995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Bebas Neue"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cs typeface="Arial"/>
                          <a:sym typeface="Arial"/>
                        </a:rPr>
                        <a:t>2. Suggestion for Future Work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/>
                        <a:t>Check the Variance Inflation Factor (VIF) — a VIF value above 10 indicates strong multicollinearity.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/>
                        <a:t>To reduce multicollinearity, consider:</a:t>
                      </a:r>
                    </a:p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US" sz="1200" b="0" dirty="0"/>
                        <a:t>Removing one of the highly correlated variables (e.g., keep S5INFT_HPR, drop SPX_HPR).</a:t>
                      </a:r>
                    </a:p>
                    <a:p>
                      <a:pPr marL="285750" lvl="1" indent="-285750">
                        <a:buFont typeface="Wingdings" pitchFamily="2" charset="2"/>
                        <a:buChar char="Ø"/>
                      </a:pPr>
                      <a:r>
                        <a:rPr lang="en-US" sz="1200" b="0" dirty="0"/>
                        <a:t>Combining correlated variables into a composite market index.</a:t>
                      </a:r>
                    </a:p>
                    <a:p>
                      <a:pPr marL="285750" lvl="1" indent="-285750">
                        <a:buFont typeface="Wingdings" pitchFamily="2" charset="2"/>
                        <a:buChar char="Ø"/>
                      </a:pPr>
                      <a:r>
                        <a:rPr lang="en-US" sz="1200" b="0" dirty="0"/>
                        <a:t>Applying PCA (Principal Component Analysis) or normalization techniques to minimize correlation.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/>
                        <a:t>Since fundamental factors explain only a limited amount of NVIDIA’s returns, the valuation of technology firms should integrate multiple methods and long-term analysis.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/>
                        <a:t>Greater emphasis should be placed on technological trends and future growth potential to produce more reliable valuation outcomes.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40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353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5"/>
          <p:cNvSpPr txBox="1">
            <a:spLocks noGrp="1"/>
          </p:cNvSpPr>
          <p:nvPr>
            <p:ph type="title"/>
          </p:nvPr>
        </p:nvSpPr>
        <p:spPr>
          <a:xfrm>
            <a:off x="702951" y="2315578"/>
            <a:ext cx="6817732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Member Contributions and References</a:t>
            </a:r>
          </a:p>
        </p:txBody>
      </p:sp>
      <p:sp>
        <p:nvSpPr>
          <p:cNvPr id="464" name="Google Shape;464;p45"/>
          <p:cNvSpPr txBox="1">
            <a:spLocks noGrp="1"/>
          </p:cNvSpPr>
          <p:nvPr>
            <p:ph type="title" idx="2"/>
          </p:nvPr>
        </p:nvSpPr>
        <p:spPr>
          <a:xfrm>
            <a:off x="702951" y="1473778"/>
            <a:ext cx="129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65" name="Google Shape;465;p45"/>
          <p:cNvSpPr/>
          <p:nvPr/>
        </p:nvSpPr>
        <p:spPr>
          <a:xfrm rot="10800000" flipH="1">
            <a:off x="7112978" y="-179501"/>
            <a:ext cx="2031030" cy="5323001"/>
          </a:xfrm>
          <a:custGeom>
            <a:avLst/>
            <a:gdLst/>
            <a:ahLst/>
            <a:cxnLst/>
            <a:rect l="l" t="t" r="r" b="b"/>
            <a:pathLst>
              <a:path w="30520" h="79988" extrusionOk="0">
                <a:moveTo>
                  <a:pt x="1" y="1"/>
                </a:moveTo>
                <a:cubicBezTo>
                  <a:pt x="4240" y="738"/>
                  <a:pt x="9082" y="2237"/>
                  <a:pt x="12675" y="4608"/>
                </a:cubicBezTo>
                <a:cubicBezTo>
                  <a:pt x="16269" y="6979"/>
                  <a:pt x="18883" y="11394"/>
                  <a:pt x="17811" y="15557"/>
                </a:cubicBezTo>
                <a:cubicBezTo>
                  <a:pt x="16755" y="19712"/>
                  <a:pt x="12424" y="22619"/>
                  <a:pt x="11972" y="26883"/>
                </a:cubicBezTo>
                <a:cubicBezTo>
                  <a:pt x="11201" y="34188"/>
                  <a:pt x="21673" y="37858"/>
                  <a:pt x="23340" y="45004"/>
                </a:cubicBezTo>
                <a:cubicBezTo>
                  <a:pt x="24194" y="48681"/>
                  <a:pt x="22519" y="52401"/>
                  <a:pt x="21555" y="56045"/>
                </a:cubicBezTo>
                <a:cubicBezTo>
                  <a:pt x="19201" y="64983"/>
                  <a:pt x="22175" y="76000"/>
                  <a:pt x="30519" y="79987"/>
                </a:cubicBezTo>
                <a:lnTo>
                  <a:pt x="3051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6;p44">
            <a:extLst>
              <a:ext uri="{FF2B5EF4-FFF2-40B4-BE49-F238E27FC236}">
                <a16:creationId xmlns:a16="http://schemas.microsoft.com/office/drawing/2014/main" id="{4DD55C84-6E1A-C4D3-E0E9-D00D86AAD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7644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Member Contributions</a:t>
            </a:r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EAC851-1E94-E97D-65ED-9753AE31A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355568"/>
              </p:ext>
            </p:extLst>
          </p:nvPr>
        </p:nvGraphicFramePr>
        <p:xfrm>
          <a:off x="1627710" y="1220799"/>
          <a:ext cx="6040995" cy="2477993"/>
        </p:xfrm>
        <a:graphic>
          <a:graphicData uri="http://schemas.openxmlformats.org/drawingml/2006/table">
            <a:tbl>
              <a:tblPr firstRow="1" bandRow="1">
                <a:tableStyleId>{D14C4EDC-AA3C-478A-B82C-993B539C328E}</a:tableStyleId>
              </a:tblPr>
              <a:tblGrid>
                <a:gridCol w="2012369">
                  <a:extLst>
                    <a:ext uri="{9D8B030D-6E8A-4147-A177-3AD203B41FA5}">
                      <a16:colId xmlns:a16="http://schemas.microsoft.com/office/drawing/2014/main" val="2258616293"/>
                    </a:ext>
                  </a:extLst>
                </a:gridCol>
                <a:gridCol w="3814955">
                  <a:extLst>
                    <a:ext uri="{9D8B030D-6E8A-4147-A177-3AD203B41FA5}">
                      <a16:colId xmlns:a16="http://schemas.microsoft.com/office/drawing/2014/main" val="87135918"/>
                    </a:ext>
                  </a:extLst>
                </a:gridCol>
                <a:gridCol w="213671">
                  <a:extLst>
                    <a:ext uri="{9D8B030D-6E8A-4147-A177-3AD203B41FA5}">
                      <a16:colId xmlns:a16="http://schemas.microsoft.com/office/drawing/2014/main" val="265982768"/>
                    </a:ext>
                  </a:extLst>
                </a:gridCol>
              </a:tblGrid>
              <a:tr h="329578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ssistant" pitchFamily="2" charset="-79"/>
                          <a:cs typeface="Assistant" pitchFamily="2" charset="-79"/>
                        </a:rPr>
                        <a:t>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ssistant" pitchFamily="2" charset="-79"/>
                          <a:cs typeface="Assistant" pitchFamily="2" charset="-79"/>
                        </a:rPr>
                        <a:t>Main Responsibility 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804283"/>
                  </a:ext>
                </a:extLst>
              </a:tr>
              <a:tr h="655495">
                <a:tc>
                  <a:txBody>
                    <a:bodyPr/>
                    <a:lstStyle/>
                    <a:p>
                      <a:r>
                        <a:rPr lang="en-US" sz="1200">
                          <a:latin typeface="Assistant" pitchFamily="2" charset="-79"/>
                          <a:cs typeface="Assistant" pitchFamily="2" charset="-79"/>
                        </a:rPr>
                        <a:t>Ngoc Phuong Nguyen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ssistant" pitchFamily="2" charset="-79"/>
                          <a:cs typeface="Assistant" pitchFamily="2" charset="-79"/>
                        </a:rPr>
                        <a:t>Collected and analyzed NVIDIA’s stock return data and market index data (S&amp;P 500 and S&amp;P 500 IT Index).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23451"/>
                  </a:ext>
                </a:extLst>
              </a:tr>
              <a:tr h="852840">
                <a:tc>
                  <a:txBody>
                    <a:bodyPr/>
                    <a:lstStyle/>
                    <a:p>
                      <a:r>
                        <a:rPr lang="en-US" sz="1200" err="1">
                          <a:latin typeface="Assistant" pitchFamily="2" charset="-79"/>
                          <a:cs typeface="Assistant" pitchFamily="2" charset="-79"/>
                        </a:rPr>
                        <a:t>Thi</a:t>
                      </a:r>
                      <a:r>
                        <a:rPr lang="en-US" sz="1200">
                          <a:latin typeface="Assistant" pitchFamily="2" charset="-79"/>
                          <a:cs typeface="Assistant" pitchFamily="2" charset="-79"/>
                        </a:rPr>
                        <a:t> Hoai Phuong 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>
                          <a:latin typeface="Assistant" pitchFamily="2" charset="-79"/>
                          <a:cs typeface="Assistant" pitchFamily="2" charset="-79"/>
                        </a:rPr>
                        <a:t>Collected and analyzed NVIDIA’s stock return with its fundamental values.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>
                          <a:latin typeface="Assistant" pitchFamily="2" charset="-79"/>
                          <a:cs typeface="Assistant" pitchFamily="2" charset="-79"/>
                        </a:rPr>
                        <a:t>Performed correlation and regression analyses between factors.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541965"/>
                  </a:ext>
                </a:extLst>
              </a:tr>
              <a:tr h="490119">
                <a:tc>
                  <a:txBody>
                    <a:bodyPr/>
                    <a:lstStyle/>
                    <a:p>
                      <a:r>
                        <a:rPr lang="en-US" sz="1200">
                          <a:latin typeface="Assistant" pitchFamily="2" charset="-79"/>
                          <a:cs typeface="Assistant" pitchFamily="2" charset="-79"/>
                        </a:rPr>
                        <a:t>The Phuong Anh Pham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ssistant" pitchFamily="2" charset="-79"/>
                          <a:cs typeface="Assistant" pitchFamily="2" charset="-79"/>
                        </a:rPr>
                        <a:t>Gathered Google Trends data related to NVIDIA and examine the relationship between Google Trends activity and NVIDIA’s stock returns.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6980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>
          <a:extLst>
            <a:ext uri="{FF2B5EF4-FFF2-40B4-BE49-F238E27FC236}">
              <a16:creationId xmlns:a16="http://schemas.microsoft.com/office/drawing/2014/main" id="{024ECF7F-F5B0-1B9E-D8F7-94634350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6;p44">
            <a:extLst>
              <a:ext uri="{FF2B5EF4-FFF2-40B4-BE49-F238E27FC236}">
                <a16:creationId xmlns:a16="http://schemas.microsoft.com/office/drawing/2014/main" id="{D0830B3A-6B78-BBA6-8608-A02985860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7644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 References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77DEFB-E5C7-A5BA-4346-97E768CAD843}"/>
              </a:ext>
            </a:extLst>
          </p:cNvPr>
          <p:cNvSpPr txBox="1"/>
          <p:nvPr/>
        </p:nvSpPr>
        <p:spPr>
          <a:xfrm>
            <a:off x="584281" y="1116500"/>
            <a:ext cx="8346044" cy="26723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/>
              <a:t>Bloomberg L.P. (2025). </a:t>
            </a:r>
            <a:r>
              <a:rPr lang="en-US" sz="1200" i="1"/>
              <a:t>NVIDIA Corporation (NVDA) historical price and financial data.</a:t>
            </a:r>
            <a:r>
              <a:rPr lang="en-US" sz="1200"/>
              <a:t> Bloomberg Terminal. 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1200"/>
              <a:t>Data collected via Google Trends API using the </a:t>
            </a:r>
            <a:r>
              <a:rPr lang="en-US" sz="1200" err="1"/>
              <a:t>pytrends</a:t>
            </a:r>
            <a:r>
              <a:rPr lang="en-US" sz="1200"/>
              <a:t> Python library, accessed November 2025</a:t>
            </a:r>
          </a:p>
          <a:p>
            <a:pPr>
              <a:lnSpc>
                <a:spcPct val="200000"/>
              </a:lnSpc>
            </a:pPr>
            <a:r>
              <a:rPr lang="en-US" sz="1200"/>
              <a:t>NVIDIA Corporation. (n.d.). </a:t>
            </a:r>
            <a:r>
              <a:rPr lang="en-US" sz="1200" i="1"/>
              <a:t>Stock Quote &amp; Chart</a:t>
            </a:r>
            <a:r>
              <a:rPr lang="en-US" sz="1200"/>
              <a:t>. Retrieved November 2025 from </a:t>
            </a:r>
            <a:r>
              <a:rPr lang="en-US" sz="1200">
                <a:hlinkClick r:id="rId3"/>
              </a:rPr>
              <a:t>https://investor.nvidia.com/stock-info/stock-quote-and-chart/default.aspx</a:t>
            </a:r>
            <a:endParaRPr lang="en-US" sz="1200"/>
          </a:p>
          <a:p>
            <a:pPr>
              <a:lnSpc>
                <a:spcPct val="200000"/>
              </a:lnSpc>
            </a:pPr>
            <a:r>
              <a:rPr lang="en-US" sz="1200" err="1"/>
              <a:t>Qubika</a:t>
            </a:r>
            <a:r>
              <a:rPr lang="en-US" sz="1200"/>
              <a:t>. (2025). </a:t>
            </a:r>
            <a:r>
              <a:rPr lang="en-US" sz="1200" i="1"/>
              <a:t>List of semiconductor conferences in 2025</a:t>
            </a:r>
            <a:r>
              <a:rPr lang="en-US" sz="1200"/>
              <a:t> [Blog post]. Retrieved November 2, 2025, from </a:t>
            </a:r>
            <a:r>
              <a:rPr lang="en-US" sz="1200">
                <a:hlinkClick r:id="rId4"/>
              </a:rPr>
              <a:t>https://qubika.com/blog/list-of-semiconductor-conferences-in-2025/</a:t>
            </a:r>
            <a:endParaRPr lang="en-US"/>
          </a:p>
          <a:p>
            <a:pPr>
              <a:lnSpc>
                <a:spcPct val="20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74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7"/>
          <p:cNvSpPr txBox="1">
            <a:spLocks noGrp="1"/>
          </p:cNvSpPr>
          <p:nvPr>
            <p:ph type="title"/>
          </p:nvPr>
        </p:nvSpPr>
        <p:spPr>
          <a:xfrm>
            <a:off x="2135550" y="1589550"/>
            <a:ext cx="4872900" cy="19644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b="1" err="1"/>
              <a:t>Thank</a:t>
            </a:r>
            <a:r>
              <a:rPr lang="vi-VN" b="1"/>
              <a:t> </a:t>
            </a:r>
            <a:r>
              <a:rPr lang="vi-VN" b="1" err="1"/>
              <a:t>you</a:t>
            </a:r>
            <a:r>
              <a:rPr lang="en-US" b="1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anic Shapes Design Pitch Deck by Slidesgo">
  <a:themeElements>
    <a:clrScheme name="Simple Light">
      <a:dk1>
        <a:srgbClr val="4A5742"/>
      </a:dk1>
      <a:lt1>
        <a:srgbClr val="F6F4E8"/>
      </a:lt1>
      <a:dk2>
        <a:srgbClr val="161616"/>
      </a:dk2>
      <a:lt2>
        <a:srgbClr val="757D71"/>
      </a:lt2>
      <a:accent1>
        <a:srgbClr val="9FA08A"/>
      </a:accent1>
      <a:accent2>
        <a:srgbClr val="C37967"/>
      </a:accent2>
      <a:accent3>
        <a:srgbClr val="D1AF91"/>
      </a:accent3>
      <a:accent4>
        <a:srgbClr val="D9C3B1"/>
      </a:accent4>
      <a:accent5>
        <a:srgbClr val="F1E9E0"/>
      </a:accent5>
      <a:accent6>
        <a:srgbClr val="FFFFFF"/>
      </a:accent6>
      <a:hlink>
        <a:srgbClr val="4A574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4FFC193680A54F9004E8FE87AB3FCC" ma:contentTypeVersion="17" ma:contentTypeDescription="Create a new document." ma:contentTypeScope="" ma:versionID="8a8be3413617c7e2901a6c7a09c17345">
  <xsd:schema xmlns:xsd="http://www.w3.org/2001/XMLSchema" xmlns:xs="http://www.w3.org/2001/XMLSchema" xmlns:p="http://schemas.microsoft.com/office/2006/metadata/properties" xmlns:ns3="0f25662a-585d-493b-bc62-a195c021765f" xmlns:ns4="ee86e954-ec0e-4ef4-9b29-9f3e4ddacf18" targetNamespace="http://schemas.microsoft.com/office/2006/metadata/properties" ma:root="true" ma:fieldsID="06ac6ea0ca9e9ba9690438a493bd04e4" ns3:_="" ns4:_="">
    <xsd:import namespace="0f25662a-585d-493b-bc62-a195c021765f"/>
    <xsd:import namespace="ee86e954-ec0e-4ef4-9b29-9f3e4ddacf1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25662a-585d-493b-bc62-a195c02176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86e954-ec0e-4ef4-9b29-9f3e4ddacf1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25662a-585d-493b-bc62-a195c021765f" xsi:nil="true"/>
  </documentManagement>
</p:properties>
</file>

<file path=customXml/itemProps1.xml><?xml version="1.0" encoding="utf-8"?>
<ds:datastoreItem xmlns:ds="http://schemas.openxmlformats.org/officeDocument/2006/customXml" ds:itemID="{113B62F3-00CD-41CB-B888-2C4DF36895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083FDA-CC7E-48E9-BABA-E5FC5EB34432}">
  <ds:schemaRefs>
    <ds:schemaRef ds:uri="0f25662a-585d-493b-bc62-a195c021765f"/>
    <ds:schemaRef ds:uri="ee86e954-ec0e-4ef4-9b29-9f3e4ddacf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1767469-2A70-4B35-80A3-5D7807269340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0f25662a-585d-493b-bc62-a195c021765f"/>
    <ds:schemaRef ds:uri="http://purl.org/dc/elements/1.1/"/>
    <ds:schemaRef ds:uri="http://www.w3.org/XML/1998/namespace"/>
    <ds:schemaRef ds:uri="ee86e954-ec0e-4ef4-9b29-9f3e4ddacf18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741bf7de-e2e5-46df-8d67-82607df9deaa}" enabled="0" method="" siteId="{741bf7de-e2e5-46df-8d67-82607df9de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1805</Words>
  <Application>Microsoft Macintosh PowerPoint</Application>
  <PresentationFormat>On-screen Show (16:9)</PresentationFormat>
  <Paragraphs>175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Nunito Light</vt:lpstr>
      <vt:lpstr>Albert Sans SemiBold</vt:lpstr>
      <vt:lpstr>Assistant</vt:lpstr>
      <vt:lpstr>Albert Sans</vt:lpstr>
      <vt:lpstr>Playfair Display</vt:lpstr>
      <vt:lpstr>Bebas Neue</vt:lpstr>
      <vt:lpstr>Calibri</vt:lpstr>
      <vt:lpstr>Wingdings</vt:lpstr>
      <vt:lpstr>PT Sans</vt:lpstr>
      <vt:lpstr>Organic Shapes Design Pitch Deck by Slidesgo</vt:lpstr>
      <vt:lpstr>NVIDIA Stock Return Trend </vt:lpstr>
      <vt:lpstr>Table of contents</vt:lpstr>
      <vt:lpstr>PowerPoint Presentation</vt:lpstr>
      <vt:lpstr>Project Objective</vt:lpstr>
      <vt:lpstr>Data Collection</vt:lpstr>
      <vt:lpstr>Data Cleaning Process</vt:lpstr>
      <vt:lpstr>4</vt:lpstr>
      <vt:lpstr>PowerPoint Presentation</vt:lpstr>
      <vt:lpstr>PowerPoint Presentation</vt:lpstr>
      <vt:lpstr>PowerPoint Presentation</vt:lpstr>
      <vt:lpstr>Relationship Between Returns and Fundamentals</vt:lpstr>
      <vt:lpstr>PowerPoint Presentation</vt:lpstr>
      <vt:lpstr>Regression Analysis</vt:lpstr>
      <vt:lpstr>Regression Analysis</vt:lpstr>
      <vt:lpstr>PowerPoint Presentation</vt:lpstr>
      <vt:lpstr>Discussion of the Study </vt:lpstr>
      <vt:lpstr>Member Contributions and References</vt:lpstr>
      <vt:lpstr>Member Contributions</vt:lpstr>
      <vt:lpstr> 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Ngoc Phuong Nguyen</cp:lastModifiedBy>
  <cp:revision>2</cp:revision>
  <dcterms:modified xsi:type="dcterms:W3CDTF">2025-11-05T01:50:14Z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0x010100BF4FFC193680A54F9004E8FE87AB3FCC</vt:lpwstr>
  </property>
</Properties>
</file>